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adding: 0, background: '#F7F9FC' }}&gt;&#13;&#10;    &lt;Box style={{ position: 'relative', width: 1280, height: 720 }}&gt;&#13;&#10;&#13;&#10;        {/* 右侧深蓝面板 + 编码器结构图 */}&#13;&#10;        &lt;Box style={{ position: 'absolute', left: 860, top: 0, width: 420, height: 720, background: '#0E3F8C', padding: '54px 40px 40px 40px' }}&gt;&#13;&#10;            &lt;Text style={{ fontSize: 11, color: '#8FB6F0', letterSpacing: 2 }}&gt;EOSEG FORWARD PASS&lt;/Text&gt;&#13;&#10;            &lt;Box style={{ height: 16 }} /&gt;&#13;&#10;&#13;&#10;            &lt;Box style={{ border: '1px solid rgba(255,255,255,0.24)', borderRadius: 4, padding: '18px 16px' }}&gt;&#13;&#10;                &lt;svg width={306} height={400} viewBox='0 0 306 400'&gt;&#13;&#10;                    &lt;g&gt;&#13;&#10;                        {[0, 1, 2, 3, 4, 5, 6, 7].map((i) =&gt; (&#13;&#10;                            &lt;rect&#13;&#10;                                key={'layer' + i}&#13;&#10;                                x={8}&#13;&#10;                                y={14 + i * 40}&#13;&#10;                                width={190}&#13;&#10;                                height={22}&#13;&#10;                                rx={4}&#13;&#10;                                fill={i &gt; 4 ? '#3D7BD9' : 'none'}&#13;&#10;                                fillOpacity={i &gt; 4 ? 0.62 : 1}&#13;&#10;                                stroke={i &gt; 4 ? '#9CC0F5' : '#FFFFFF'}&#13;&#10;                                strokeOpacity={i &gt; 4 ? 0.95 : 0.42}&#13;&#10;                                strokeWidth={1.2}&#13;&#10;                            /&gt;&#13;&#10;                        ))}&#13;&#10;                    &lt;/g&gt;&#13;&#10;                    &lt;g&gt;&#13;&#10;                        {[0, 1, 2].map((i) =&gt; (&#13;&#10;                            &lt;rect key={'q' + i} x={228} y={214 + i * 40} width={66} height={22} rx={11}&#13;&#10;                                fill='none' stroke='#FFC107' strokeOpacity={0.85} strokeWidth={1.4} /&gt;&#13;&#10;                        ))}&#13;&#10;                    &lt;/g&gt;&#13;&#10;                    &lt;g stroke='#FFC107' strokeOpacity={0.7} strokeWidth={1.2}&gt;&#13;&#10;                        &lt;line x1='198' y1='225' x2='228' y2='225' /&gt;&#13;&#10;                        &lt;line x1='198' y1='265' x2='228' y2='265' /&gt;&#13;&#10;                        &lt;line x1='198' y1='305' x2='228' y2='305' /&gt;&#13;&#10;                    &lt;/g&gt;&#13;&#10;                    &lt;g stroke='#FFFFFF' strokeOpacity={0.35} strokeWidth={1.2}&gt;&#13;&#10;                        &lt;line x1='8' y1='362' x2='296' y2='362' /&gt;&#13;&#10;                        &lt;path d='M290 357 L296 362 L290 367' fill='none' /&gt;&#13;&#10;                    &lt;/g&gt;&#13;&#10;                &lt;/svg&gt;&#13;&#10;            &lt;/Box&gt;&#13;&#10;&#13;&#10;            &lt;Box style={{ height: 18 }} /&gt;&#13;&#10;            &lt;Text style={{ fontSize: 13, color: '#C9D8EF', lineHeight: 1.8 }}&gt;&#13;&#10;                前 L−3 个 Block 输出 Patch Tokens；&#13;&#10;                &lt;br /&gt;&#13;&#10;                仅最后 &lt;span style={{ color: '#FFC107', fontWeight: 'bold' }}&gt;K = 3&lt;/span&gt; 个 Block 引入可学习 Query 与之交互。&#13;&#10;            &lt;/Text&gt;&#13;&#10;            &lt;Box style={{ height: 16 }} /&gt;&#13;&#10;            &lt;Box style={{ border: '1px solid rgba(255,255,255,0.22)', borderRadius: 3, padding: '10px 12px' }}&gt;&#13;&#10;                &lt;Text style={{ fontSize: 11, color: '#9DB8E0', letterSpacing: 1.2 }}&gt;ASEE 注入点&lt;/Text&gt;&#13;&#10;                &lt;Box style={{ height: 4 }} /&gt;&#13;&#10;                &lt;Text style={{ fontSize: 12, color: '#E8EFF8', lineHeight: 1.7 }}&gt;&#13;&#10;                    位于 Patch Tokens 之后、Query 建模之前&#13;&#10;                &lt;/Text&gt;&#13;&#10;            &lt;/Box&gt;&#13;&#10;            &lt;Box style={{ flex: 1 }} /&gt;&#13;&#10;            &lt;Text style={{ fontSize: 12, color: '#9DB8E0', letterSpacing: 1.2 }}&gt;MGTN · SEPE → ASEE&lt;/Text&gt;&#13;&#10;        &lt;/Box&gt;&#13;&#10;&#13;&#10;        {/* 顶部主色条 */}&#13;&#10;        &lt;Box style={{ position: 'absolute', left: 0, top: 0, width: 1280, height: 8, background: '#1E4FA8' }} /&gt;&#13;&#10;&#13;&#10;        {/* 顶部机构信息行 */}&#13;&#10;        &lt;Box style={{ position: 'absolute', left: 80, top: 30, width: 720, height: 34, flexDirection: 'row', alignItems: 'center', gap: 12 }}&gt;&#13;&#10;            &lt;Box style={{ width: 26, height: 26, background: '#1E4FA8', alignItems: 'center', justifyContent: 'center' }}&gt;&#13;&#10;                &lt;Text style={{ fontSize: 14, fontWeight: 'bold', color: '#FFFFFF' }}&gt;A&lt;/Text&gt;&#13;&#10;            &lt;/Box&gt;&#13;&#10;            &lt;Text style={{ fontSize: 13, color: '#4A5568', letterSpacing: 0.6 }}&gt;医学影像分割课题组 · 组会方案汇报&lt;/Text&gt;&#13;&#10;            &lt;Box style={{ flex: 1 }} /&gt;&#13;&#10;            &lt;Text style={{ fontSize: 13, color: '#8B97A8', letterSpacing: 0.6 }}&gt;2026.10&lt;/Text&gt;&#13;&#10;        &lt;/Box&gt;&#13;&#10;&#13;&#10;        {/* 白色骑线信息卡 */}&#13;&#10;        &lt;Box style={{&#13;&#10;            position: 'absolute', left: 80, top: 96, width: 780, height: 470,&#13;&#10;            background: '#FFFFFF', borderLeft: '6px solid #3D7BD9', borderRadius: 2,&#13;&#10;            boxShadow: '0 8px 28px rgba(14, 63, 140, 0.10)',&#13;&#10;        }}&gt;&#13;&#10;            &lt;Box style={{ position: 'absolute', left: 44, top: 38, flexDirection: 'row', alignItems: 'center', gap: 10 }}&gt;&#13;&#10;                &lt;Box style={{ background: '#E8EFF8', borderRadius: 11, padding: '3px 14px' }}&gt;&#13;&#10;                    &lt;Text style={{ fontSize: 13, color: '#1E4FA8', fontWeight: 'bold', letterSpacing: 1 }}&gt;算法改进方案&lt;/Text&gt;&#13;&#10;                &lt;/Box&gt;&#13;&#10;                &lt;Text style={{ fontSize: 13, color: '#8B97A8', letterSpacing: 1 }}&gt;MEDICAL IMAGE SEGMENTATION&lt;/Text&gt;&#13;&#10;            &lt;/Box&gt;&#13;&#10;&#13;&#10;            &lt;Box style={{ position: 'absolute', left: 44, top: 74, width: 692 }}&gt;&#13;&#10;                &lt;Text style={{ fontSize: 54, fontWeight: 'bold', color: '#0E3F8C', lineHeight: 1.2, letterSpacing: 1 }}&gt;&#13;&#10;                    解剖语义增强编码（ASEE）&#13;&#10;                &lt;/Text&gt;&#13;&#10;            &lt;/Box&gt;&#13;&#10;&#13;&#10;            &lt;Box style={{ position: 'absolute', left: 44, top: 158, width: 570 }}&gt;&#13;&#10;                &lt;Text style={{ fontSize: 15, color: '#4A5568', lineHeight: 1.75, letterSpacing: 0.4 }}&gt;&#13;&#10;                    Anatomical Semantic Enhanced Encoding&#13;&#10;                    &lt;br /&gt;&#13;&#10;                    for EoSeg-based Medical Image Segmentation&#13;&#10;                &lt;/Text&gt;&#13;&#10;            &lt;/Box&gt;&#13;&#10;            &lt;Box style={{ position: 'absolute', left: 626, top: 164, width: 110 }}&gt;&#13;&#10;                &lt;Text style={{ fontSize: 11, color: '#9CB6DC', letterSpacing: 2, lineHeight: 1.8, textAlign: 'right' }}&gt;&#13;&#10;                    RESEARCH&#13;&#10;                    &lt;br /&gt;&#13;&#10;                    PROPOSAL&#13;&#10;                &lt;/Text&gt;&#13;&#10;            &lt;/Box&gt;&#13;&#10;&#13;&#10;            &lt;Box style={{ position: 'absolute', left: 44, top: 240, width: 96, height: 3, background: '#3D7BD9' }} /&gt;&#13;&#10;&#13;&#10;            &lt;Box style={{ position: 'absolute', left: 44, top: 258, width: 692 }}&gt;&#13;&#10;                &lt;Text style={{ fontSize: 21, color: '#1A2230', lineHeight: 1.5 }}&gt;&#13;&#10;                    在 EoSeg 纯编码器架构中注入&lt;span style={{ color: '#1E4FA8', fontWeight: 'bold' }}&gt;解剖先验知识&lt;/span&gt;&#13;&#10;                &lt;/Text&gt;&#13;&#10;            &lt;/Box&gt;&#13;&#10;&#13;&#10;            &lt;Box style={{ position: 'absolute', left: 44, top: 300, width: 692 }}&gt;&#13;&#10;                &lt;Text style={{ fontSize: 14, color: '#4A5568', lineHeight: 1.7 }}&gt;&#13;&#10;                    面向腹部 CT（Synapse）与心脏 MRI（ACDC）的多器官分割&#13;&#10;                &lt;/Text&gt;&#13;&#10;            &lt;/Box&gt;&#13;&#10;&#13;&#10;            &lt;Box style={{ position: 'absolute', left: 44, top: 400, width: 692, height: 1, background: '#D6DCE5' }} /&gt;&#13;&#10;            &lt;Box style={{ position: 'absolute', left: 44, top: 416, width: 692 }}&gt;&#13;&#10;                &lt;Text style={{ fontSize: 13, color: '#8B97A8', lineHeight: 1.7 }}&gt;&#13;&#10;                    方法脉络：MGTN 语义位置编码 → ASEE 解剖语义增强编码&#13;&#10;                &lt;/Text&gt;&#13;&#10;            &lt;/Box&gt;&#13;&#10;        &lt;/Box&gt;&#13;&#10;&#13;&#10;        {/* 底部关键词标签 */}&#13;&#10;        &lt;Box style={{ position: 'absolute', left: 80, top: 600, width: 780, height: 32, flexDirection: 'row', alignItems: 'center', gap: 12 }}&gt;&#13;&#10;            &lt;Box style={{ border: '1px solid #D6DCE5', borderRadius: 15, padding: '5px 14px' }}&gt;&#13;&#10;                &lt;Text style={{ fontSize: 12, color: '#4A5568' }}&gt;EoSeg 纯编码器基线&lt;/Text&gt;&#13;&#10;            &lt;/Box&gt;&#13;&#10;            &lt;Box style={{ border: '1px solid #D6DCE5', borderRadius: 15, padding: '5px 14px' }}&gt;&#13;&#10;                &lt;Text style={{ fontSize: 12, color: '#4A5568' }}&gt;MGTN 语义位置编码&lt;/Text&gt;&#13;&#10;            &lt;/Box&gt;&#13;&#10;            &lt;Box style={{ border: '1px solid #D6DCE5', borderRadius: 15, padding: '5px 14px' }}&gt;&#13;&#10;                &lt;Text style={{ fontSize: 12, color: '#4A5568' }}&gt;Synapse / ACDC&lt;/Text&gt;&#13;&#10;            &lt;/Box&gt;&#13;&#10;        &lt;/Box&gt;&#13;&#10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12" name="矩形 1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3" name="矩形 12"/>
          <p:cNvSpPr/>
          <p:nvPr/>
        </p:nvSpPr>
        <p:spPr>
          <a:xfrm>
            <a:off x="762000" y="323850"/>
            <a:ext cx="247650" cy="24765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838200" y="371475"/>
            <a:ext cx="1047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7753350" y="371475"/>
            <a:ext cx="514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4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2026.10</a:t>
            </a:r>
            <a:endParaRPr lang="en-US" sz="975" spc="4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819150" y="914400"/>
            <a:ext cx="11369675" cy="5485130"/>
          </a:xfrm>
          <a:prstGeom prst="roundRect">
            <a:avLst>
              <a:gd name="adj" fmla="val 426"/>
            </a:avLst>
          </a:prstGeom>
          <a:solidFill>
            <a:srgbClr val="FFFFFF"/>
          </a:solidFill>
          <a:effectLst>
            <a:outerShdw blurRad="266700" dist="76200" dir="5400000">
              <a:srgbClr val="0E3F8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任意多边形 17"/>
          <p:cNvSpPr/>
          <p:nvPr/>
        </p:nvSpPr>
        <p:spPr>
          <a:xfrm>
            <a:off x="809625" y="914400"/>
            <a:ext cx="7381875" cy="5445125"/>
          </a:xfrm>
          <a:custGeom>
            <a:avLst/>
            <a:gdLst/>
            <a:ahLst/>
            <a:cxnLst/>
            <a:pathLst>
              <a:path w="774" h="470">
                <a:moveTo>
                  <a:pt x="6" y="470"/>
                </a:moveTo>
                <a:cubicBezTo>
                  <a:pt x="4" y="471"/>
                  <a:pt x="2" y="471"/>
                  <a:pt x="1" y="470"/>
                </a:cubicBezTo>
                <a:cubicBezTo>
                  <a:pt x="0" y="469"/>
                  <a:pt x="0" y="469"/>
                  <a:pt x="0" y="468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lnTo>
                  <a:pt x="6" y="0"/>
                </a:lnTo>
                <a:close/>
              </a:path>
            </a:pathLst>
          </a:custGeom>
          <a:solidFill>
            <a:srgbClr val="3D7BD9"/>
          </a:solidFill>
        </p:spPr>
        <p:txBody>
          <a:bodyPr/>
          <a:p/>
        </p:txBody>
      </p:sp>
      <p:sp>
        <p:nvSpPr>
          <p:cNvPr id="19" name="圆角矩形 18"/>
          <p:cNvSpPr/>
          <p:nvPr/>
        </p:nvSpPr>
        <p:spPr>
          <a:xfrm>
            <a:off x="1885950" y="1276350"/>
            <a:ext cx="1066800" cy="2095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2019300" y="1304925"/>
            <a:ext cx="800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算法改进方案</a:t>
            </a:r>
            <a:endParaRPr lang="zh-CN" sz="975" b="1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3048000" y="1304925"/>
            <a:ext cx="2276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MEDICAL IMAGE SEGMENTATION</a:t>
            </a:r>
            <a:endParaRPr lang="en-US" sz="975" spc="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1885950" y="1619250"/>
            <a:ext cx="6591300" cy="742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050" b="1" spc="75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解剖语义增强编码（</a:t>
            </a:r>
            <a:r>
              <a:rPr lang="en-US" sz="4050" b="1" spc="75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ASEE</a:t>
            </a:r>
            <a:r>
              <a:rPr lang="zh-CN" sz="4050" b="1" spc="75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4050" b="1" spc="75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1885950" y="2419350"/>
            <a:ext cx="5429250" cy="600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125" spc="3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Anatomical Semantic Enhanced Encoding</a:t>
            </a:r>
            <a:endParaRPr lang="en-US" sz="1125" spc="3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5000"/>
              </a:lnSpc>
            </a:pPr>
            <a:r>
              <a:rPr lang="en-US" sz="1125" spc="3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for EoSeg-based Medical Image Segmentation</a:t>
            </a:r>
            <a:endParaRPr lang="en-US" sz="1125" spc="3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885950" y="3200400"/>
            <a:ext cx="914400" cy="28575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1885950" y="3371850"/>
            <a:ext cx="6591300" cy="361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EoSeg </a:t>
            </a:r>
            <a:r>
              <a:rPr lang="zh-CN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纯编码器架构中注入</a:t>
            </a:r>
            <a:r>
              <a:rPr lang="zh-CN" sz="15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解剖先验知识</a:t>
            </a:r>
            <a:endParaRPr lang="zh-CN" sz="15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1885950" y="3771900"/>
            <a:ext cx="65913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面向腹部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CT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Synapse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）与心脏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MRI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ACDC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）的多器官分割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885950" y="4724400"/>
            <a:ext cx="6591300" cy="9525"/>
          </a:xfrm>
          <a:prstGeom prst="rect">
            <a:avLst/>
          </a:prstGeom>
          <a:solidFill>
            <a:srgbClr val="D6DCE5"/>
          </a:solidFill>
        </p:spPr>
        <p:txBody>
          <a:bodyPr/>
          <a:p/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1885950" y="4876800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方法脉络：</a:t>
            </a: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MGTN 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语义位置编码</a:t>
            </a: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→ ASEE 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解剖语义增强编码</a:t>
            </a:r>
            <a:endParaRPr lang="zh-CN" sz="9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1993900" y="5753100"/>
            <a:ext cx="1333500" cy="238125"/>
          </a:xfrm>
          <a:prstGeom prst="roundRect">
            <a:avLst>
              <a:gd name="adj" fmla="val 60000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2127250" y="5800725"/>
            <a:ext cx="10668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EoSeg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纯编码器基线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3441700" y="5753100"/>
            <a:ext cx="1343025" cy="238125"/>
          </a:xfrm>
          <a:prstGeom prst="roundRect">
            <a:avLst>
              <a:gd name="adj" fmla="val 60000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3575050" y="5800725"/>
            <a:ext cx="10763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MGTN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语义位置编码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1" name="" descr="&lt;Slide style={{ width: 1280, height: 720, padding: 0, background: '#FFFFFF' }}&gt;&#13;&#10;    &lt;Box style={{ position: 'relative', width: 1280, height: 720 }}&gt;&#13;&#10;&#13;&#10;        &lt;Box style={{ position: 'absolute', left: 0, top: 0, width: 1280, height: 8, background: '#1E4FA8' }} /&gt;&#13;&#10;&#13;&#10;        {/* 页眉 */}&#13;&#10;        &lt;Box style={{ position: 'absolute', left: 40, top: 22, width: 1200, height: 60, flexDirection: 'row', alignItems: 'center' }}&gt;&#13;&#10;            &lt;Box&gt;&#13;&#10;                &lt;Text style={{ fontSize: 12, color: '#3D7BD9', letterSpacing: 1.5 }}&gt;00 / 方案速览&lt;/Text&gt;&#13;&#10;                &lt;Box style={{ height: 4 }} /&gt;&#13;&#10;                &lt;Text style={{ fontSize: 32, fontWeight: 'bold', color: '#0E3F8C', letterSpacing: 0.5 }}&gt;三句话说清：要解决什么、怎么改、值不值&lt;/Text&gt;&#13;&#10;            &lt;/Box&gt;&#13;&#10;            &lt;Box style={{ flex: 1 }} /&gt;&#13;&#10;            &lt;Box style={{ background: '#E8EFF8', borderRadius: 3, padding: '6px 14px' }}&gt;&#13;&#10;                &lt;Text style={{ fontSize: 12, color: '#1E4FA8', fontWeight: 'bold', letterSpacing: 1 }}&gt;EXECUTIVE SUMMARY&lt;/Text&gt;&#13;&#10;            &lt;/Box&gt;&#13;&#10;        &lt;/Box&gt;&#13;&#10;        &lt;Box style={{ position: 'absolute', left: 40, top: 92, width: 1200, height: 1, background: '#D6DCE5' }} /&gt;&#13;&#10;&#13;&#10;        {/* 核心命题 */}&#13;&#10;        &lt;Box style={{ position: 'absolute', left: 40, top: 106, width: 1200, height: 86, background: '#F0F5FC', borderLeft: '4px solid #1E4FA8', borderRadius: 3, padding: '0 22px', justifyContent: 'center' }}&gt;&#13;&#10;            &lt;Box style={{ flexDirection: 'row', alignItems: 'center', gap: 16 }}&gt;&#13;&#10;                &lt;Text style={{ fontSize: 12, color: '#1E4FA8', fontWeight: 'bold', letterSpacing: 1.5, width: 62 }}&gt;核心命题&lt;/Text&gt;&#13;&#10;                &lt;Text style={{ flex: 1, fontSize: 17, color: '#1A2230', lineHeight: 1.7 }}&gt;&#13;&#10;                    把解剖语义描述与类别共现概率编码成先验知识库，在 Query 建模之前双向注入，&#13;&#10;                    使随机初始化的可学习查询获得明确的解剖指向性。&#13;&#10;                &lt;/Text&gt;&#13;&#10;            &lt;/Box&gt;&#13;&#10;        &lt;/Box&gt;&#13;&#10;&#13;&#10;        {/* 三段式 */}&#13;&#10;        &lt;Box style={{ position: 'absolute', left: 40, top: 214, width: 1200, height: 288 }}&gt;&#13;&#10;&#13;&#10;            &lt;Box style={{ height: 92, flexDirection: 'row', alignItems: 'flex-start', borderTop: '1px solid #C6D7EE', paddingTop: 14 }}&gt;&#13;&#10;                &lt;Text style={{ width: 84, fontSize: 13, fontWeight: 'bold', color: '#D9534F', letterSpacing: 1, lineHeight: 1.9 }}&gt;问题&lt;/Text&gt;&#13;&#10;                &lt;Box style={{ width: 210 }}&gt;&#13;&#10;                    &lt;Text style={{ fontSize: 18, fontWeight: 'bold', color: '#0E3F8C', lineHeight: 1.5 }}&gt;Query 从零开始&lt;/Text&gt;&#13;&#10;                &lt;/Box&gt;&#13;&#10;                &lt;Text style={{ flex: 1, fontSize: 14, color: '#1A2230', lineHeight: 1.85 }}&gt;&#13;&#10;                    EoSeg 的 Query 随机初始化、纯视觉驱动，对解剖位置一无所知；&#13;&#10;                    Synapse 上胆囊 74.99%、胰腺 75.89%，与肝脏 94.87% 差近 20 点，&#13;&#10;                    说明瓶颈不在表征能力，而在类别竞争。&#13;&#10;                &lt;/Text&gt;&#13;&#10;            &lt;/Box&gt;&#13;&#10;&#13;&#10;            &lt;Box style={{ height: 92, flexDirection: 'row', alignItems: 'flex-start', borderTop: '1px solid #C6D7EE', paddingTop: 14 }}&gt;&#13;&#10;                &lt;Text style={{ width: 84, fontSize: 13, fontWeight: 'bold', color: '#1E4FA8', letterSpacing: 1, lineHeight: 1.9 }}&gt;方法&lt;/Text&gt;&#13;&#10;                &lt;Box style={{ width: 210 }}&gt;&#13;&#10;                    &lt;Text style={{ fontSize: 18, fontWeight: 'bold', color: '#0E3F8C', lineHeight: 1.5 }}&gt;建库 + 双向注入&lt;/Text&gt;&#13;&#10;                &lt;/Box&gt;&#13;&#10;                &lt;Text style={{ flex: 1, fontSize: 14, color: '#1A2230', lineHeight: 1.85 }}&gt;&#13;&#10;                    文本语义 S 与共现概率 CP 合成 E_prior；上支路让 Patch Token 检索先验，&#13;&#10;                    下支路用先验初始化查询，再拼接回灌后 3 个 Block。&#13;&#10;                    三步全部发生在前向入口，主干一行不改。&#13;&#10;                &lt;/Text&gt;&#13;&#10;            &lt;/Box&gt;&#13;&#10;&#13;&#10;            &lt;Box style={{ height: 92, flexDirection: 'row', alignItems: 'flex-start', borderTop: '1px solid #C6D7EE', borderBottom: '1px solid #C6D7EE', paddingTop: 14 }}&gt;&#13;&#10;                &lt;Text style={{ width: 84, fontSize: 13, fontWeight: 'bold', color: '#1E4FA8', letterSpacing: 1, lineHeight: 1.9 }}&gt;收益&lt;/Text&gt;&#13;&#10;                &lt;Box style={{ width: 210 }}&gt;&#13;&#10;                    &lt;Text style={{ fontSize: 18, fontWeight: 'bold', color: '#0E3F8C', lineHeight: 1.5 }}&gt;不改主干，定向改善&lt;/Text&gt;&#13;&#10;                &lt;/Box&gt;&#13;&#10;                &lt;Text style={{ flex: 1, fontSize: 14, color: '#1A2230', lineHeight: 1.85 }}&gt;&#13;&#10;                    后 3 层 Block、融合层与预测头全部沿用原实现；&#13;&#10;                    预期改善集中在胆囊、胰腺两个 Dice 洼地，而非全线均匀抬高。&#13;&#10;                    代价是新增一个映射层与一次交叉注意力。&#13;&#10;                &lt;/Text&gt;&#13;&#10;            &lt;/Box&gt;&#13;&#10;        &lt;/Box&gt;&#13;&#10;&#13;&#10;        {/* 三个关键量 */}&#13;&#10;        &lt;Box style={{ position: 'absolute', left: 40, top: 522, width: 1200, height: 110, flexDirection: 'row', gap: 0 }}&gt;&#13;&#10;            &lt;Box style={{ flex: 1, borderLeft: '2px solid #E8EFF8', paddingLeft: 18 }}&gt;&#13;&#10;                &lt;Text style={{ fontSize: 40, fontWeight: 'bold', color: '#0E3F8C', lineHeight: 1.1 }}&gt;C 个&lt;/Text&gt;&#13;&#10;                &lt;Box style={{ height: 4 }} /&gt;&#13;&#10;                &lt;Text style={{ fontSize: 13, color: '#4A5568', lineHeight: 1.6 }}&gt;解剖类别 → S、CP 的行数&lt;/Text&gt;&#13;&#10;            &lt;/Box&gt;&#13;&#10;            &lt;Box style={{ flex: 1, borderLeft: '2px solid #E8EFF8', paddingLeft: 18 }}&gt;&#13;&#10;                &lt;Text style={{ fontSize: 40, fontWeight: 'bold', color: '#0E3F8C', lineHeight: 1.1 }}&gt;K = 3&lt;/Text&gt;&#13;&#10;                &lt;Box style={{ height: 4 }} /&gt;&#13;&#10;                &lt;Text style={{ fontSize: 13, color: '#4A5568', lineHeight: 1.6 }}&gt;末尾引入 Query 的 Block 数&lt;/Text&gt;&#13;&#10;            &lt;/Box&gt;&#13;&#10;            &lt;Box style={{ flex: 1, borderLeft: '2px solid #E8EFF8', paddingLeft: 18 }}&gt;&#13;&#10;                &lt;Text style={{ fontSize: 40, fontWeight: 'bold', color: '#0E3F8C', lineHeight: 1.1 }}&gt;2C&lt;/Text&gt;&#13;&#10;                &lt;Box style={{ height: 4 }} /&gt;&#13;&#10;                &lt;Text style={{ fontSize: 13, color: '#4A5568', lineHeight: 1.6 }}&gt;可学习 Query 总数（每类 2 个）&lt;/Text&gt;&#13;&#10;            &lt;/Box&gt;&#13;&#10;        &lt;/Box&gt;&#13;&#10;&#13;&#10;        {/* 页脚 */}&#13;&#10;        &lt;Box style={{ position: 'absolute', left: 40, top: 664, width: 1200, flexDirection: 'row', alignItems: 'center' }}&gt;&#13;&#10;            &lt;Text style={{ fontSize: 13, color: '#8B97A8' }}&gt;ASEE · 解剖语义增强编码&lt;/Text&gt;&#13;&#10;            &lt;Box style={{ flex: 1 }} /&gt;&#13;&#10;            &lt;Text style={{ fontSize: 15, fontWeight: 'bold', color: '#1E4FA8' }}&gt;02&lt;/Text&gt;&#13;&#10;            &lt;Text style={{ fontSize: 15, color: '#8B97A8' }}&gt; / 14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矩形 2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33" name="矩形 23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381000" y="219075"/>
            <a:ext cx="58864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00 / </a:t>
            </a:r>
            <a:r>
              <a:rPr lang="zh-CN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方案速览</a:t>
            </a:r>
            <a:endParaRPr lang="zh-CN" sz="900" spc="113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381000" y="400050"/>
            <a:ext cx="58864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三句话说清：要解决什么、怎么改、值不值</a:t>
            </a:r>
            <a:endParaRPr lang="zh-CN" sz="2400" b="1" spc="38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" name="圆角矩形 235"/>
          <p:cNvSpPr/>
          <p:nvPr/>
        </p:nvSpPr>
        <p:spPr>
          <a:xfrm>
            <a:off x="10077450" y="371475"/>
            <a:ext cx="1733550" cy="257175"/>
          </a:xfrm>
          <a:prstGeom prst="roundRect">
            <a:avLst>
              <a:gd name="adj" fmla="val 11111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10210800" y="428625"/>
            <a:ext cx="14668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EXECUTIVE SUMMARY</a:t>
            </a:r>
            <a:endParaRPr lang="en-US" sz="900" b="1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381000" y="876300"/>
            <a:ext cx="11430000" cy="9525"/>
          </a:xfrm>
          <a:prstGeom prst="rect">
            <a:avLst/>
          </a:prstGeom>
          <a:solidFill>
            <a:srgbClr val="D6DCE5"/>
          </a:solidFill>
        </p:spPr>
        <p:txBody>
          <a:bodyPr/>
          <a:p/>
        </p:txBody>
      </p:sp>
      <p:sp>
        <p:nvSpPr>
          <p:cNvPr id="239" name="圆角矩形 238"/>
          <p:cNvSpPr/>
          <p:nvPr/>
        </p:nvSpPr>
        <p:spPr>
          <a:xfrm>
            <a:off x="419100" y="1009650"/>
            <a:ext cx="11391900" cy="819150"/>
          </a:xfrm>
          <a:prstGeom prst="roundRect">
            <a:avLst>
              <a:gd name="adj" fmla="val 3488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40" name="任意多边形 239"/>
          <p:cNvSpPr/>
          <p:nvPr/>
        </p:nvSpPr>
        <p:spPr>
          <a:xfrm>
            <a:off x="419100" y="1009650"/>
            <a:ext cx="11391900" cy="819150"/>
          </a:xfrm>
          <a:custGeom>
            <a:avLst/>
            <a:gdLst/>
            <a:ahLst/>
            <a:cxnLst/>
            <a:pathLst>
              <a:path w="1196" h="86">
                <a:moveTo>
                  <a:pt x="4" y="86"/>
                </a:moveTo>
                <a:cubicBezTo>
                  <a:pt x="3" y="86"/>
                  <a:pt x="2" y="86"/>
                  <a:pt x="1" y="85"/>
                </a:cubicBezTo>
                <a:cubicBezTo>
                  <a:pt x="0" y="84"/>
                  <a:pt x="0" y="84"/>
                  <a:pt x="0" y="8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628650" y="13525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13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核心命题</a:t>
            </a:r>
            <a:endParaRPr lang="zh-CN" sz="900" b="1" spc="113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1371600" y="1257300"/>
            <a:ext cx="1022985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把解剖语义描述与类别共现概率编码成先验知识库，在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Query 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建模之前双向注入，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使随机初始化的可学习查询获得明确的解剖指向性。</a:t>
            </a:r>
            <a:endParaRPr lang="zh-CN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" name="任意多边形 242"/>
          <p:cNvSpPr/>
          <p:nvPr/>
        </p:nvSpPr>
        <p:spPr>
          <a:xfrm>
            <a:off x="381000" y="2038350"/>
            <a:ext cx="11430000" cy="876300"/>
          </a:xfrm>
          <a:custGeom>
            <a:avLst/>
            <a:gdLst/>
            <a:ahLst/>
            <a:cxnLst/>
            <a:pathLst>
              <a:path w="1200" h="92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C6D7EE"/>
          </a:solidFill>
        </p:spPr>
        <p:txBody>
          <a:bodyPr/>
          <a:p/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381000" y="2181225"/>
            <a:ext cx="8001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975" b="1" spc="75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endParaRPr lang="zh-CN" sz="975" b="1" spc="75">
              <a:solidFill>
                <a:srgbClr val="D953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1181100" y="2181225"/>
            <a:ext cx="200025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Query </a:t>
            </a: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从零开始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3181350" y="2181225"/>
            <a:ext cx="86296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EoSeg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Query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随机初始化、纯视觉驱动，对解剖位置一无所知；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Synapse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上胆囊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74.99%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、胰腺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75.89%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，与肝脏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94.87%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差近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20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点，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说明瓶颈不在表征能力，而在类别竞争。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任意多边形 246"/>
          <p:cNvSpPr/>
          <p:nvPr/>
        </p:nvSpPr>
        <p:spPr>
          <a:xfrm>
            <a:off x="381000" y="2914650"/>
            <a:ext cx="11430000" cy="876300"/>
          </a:xfrm>
          <a:custGeom>
            <a:avLst/>
            <a:gdLst/>
            <a:ahLst/>
            <a:cxnLst/>
            <a:pathLst>
              <a:path w="1200" h="92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C6D7EE"/>
          </a:solidFill>
        </p:spPr>
        <p:txBody>
          <a:bodyPr/>
          <a:p/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381000" y="3057525"/>
            <a:ext cx="8001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975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方法</a:t>
            </a:r>
            <a:endParaRPr lang="zh-CN" sz="975" b="1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1181100" y="3057525"/>
            <a:ext cx="200025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建库</a:t>
            </a: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双向注入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3181350" y="3057525"/>
            <a:ext cx="86296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文本语义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S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与共现概率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CP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合成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E_prior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；上支路让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Patch Token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检索先验，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下支路用先验初始化查询，再拼接回灌后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Block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三步全部发生在前向入口，主干一行不改。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1" name="任意多边形 250"/>
          <p:cNvSpPr/>
          <p:nvPr/>
        </p:nvSpPr>
        <p:spPr>
          <a:xfrm>
            <a:off x="381000" y="3790950"/>
            <a:ext cx="11430000" cy="876300"/>
          </a:xfrm>
          <a:custGeom>
            <a:avLst/>
            <a:gdLst/>
            <a:ahLst/>
            <a:cxnLst/>
            <a:pathLst>
              <a:path w="1200" h="92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C6D7EE"/>
          </a:solidFill>
        </p:spPr>
        <p:txBody>
          <a:bodyPr/>
          <a:p/>
        </p:txBody>
      </p:sp>
      <p:sp>
        <p:nvSpPr>
          <p:cNvPr id="252" name="任意多边形 251"/>
          <p:cNvSpPr/>
          <p:nvPr/>
        </p:nvSpPr>
        <p:spPr>
          <a:xfrm>
            <a:off x="381000" y="3790950"/>
            <a:ext cx="11430000" cy="876300"/>
          </a:xfrm>
          <a:custGeom>
            <a:avLst/>
            <a:gdLst/>
            <a:ahLst/>
            <a:cxnLst/>
            <a:pathLst>
              <a:path w="1200" h="92">
                <a:moveTo>
                  <a:pt x="0" y="91"/>
                </a:moveTo>
                <a:lnTo>
                  <a:pt x="1200" y="91"/>
                </a:lnTo>
                <a:lnTo>
                  <a:pt x="120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C6D7EE"/>
          </a:solidFill>
        </p:spPr>
        <p:txBody>
          <a:bodyPr/>
          <a:p/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381000" y="3933825"/>
            <a:ext cx="8001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975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收益</a:t>
            </a:r>
            <a:endParaRPr lang="zh-CN" sz="975" b="1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1181100" y="3933825"/>
            <a:ext cx="200025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不改主干，定向改善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3181350" y="3933825"/>
            <a:ext cx="86296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后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层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Block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、融合层与预测头全部沿用原实现；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预期改善集中在胆囊、胰腺两个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Dice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洼地，而非全线均匀抬高。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代价是新增一个映射层与一次交叉注意力。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任意多边形 255"/>
          <p:cNvSpPr/>
          <p:nvPr/>
        </p:nvSpPr>
        <p:spPr>
          <a:xfrm>
            <a:off x="381000" y="4972050"/>
            <a:ext cx="3829050" cy="1047750"/>
          </a:xfrm>
          <a:custGeom>
            <a:avLst/>
            <a:gdLst/>
            <a:ahLst/>
            <a:cxnLst/>
            <a:pathLst>
              <a:path w="402" h="110">
                <a:moveTo>
                  <a:pt x="0" y="0"/>
                </a:moveTo>
                <a:lnTo>
                  <a:pt x="2" y="0"/>
                </a:lnTo>
                <a:lnTo>
                  <a:pt x="2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E8EFF8"/>
          </a:solidFill>
        </p:spPr>
        <p:txBody>
          <a:bodyPr/>
          <a:p/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571500" y="4972050"/>
            <a:ext cx="36195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C </a:t>
            </a:r>
            <a:r>
              <a:rPr lang="zh-CN"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endParaRPr lang="zh-CN" sz="3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571500" y="5514975"/>
            <a:ext cx="36195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解剖类别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S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CP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的行数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任意多边形 258"/>
          <p:cNvSpPr/>
          <p:nvPr/>
        </p:nvSpPr>
        <p:spPr>
          <a:xfrm>
            <a:off x="4191000" y="4972050"/>
            <a:ext cx="3829050" cy="1047750"/>
          </a:xfrm>
          <a:custGeom>
            <a:avLst/>
            <a:gdLst/>
            <a:ahLst/>
            <a:cxnLst/>
            <a:pathLst>
              <a:path w="402" h="110">
                <a:moveTo>
                  <a:pt x="0" y="0"/>
                </a:moveTo>
                <a:lnTo>
                  <a:pt x="2" y="0"/>
                </a:lnTo>
                <a:lnTo>
                  <a:pt x="2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E8EFF8"/>
          </a:solidFill>
        </p:spPr>
        <p:txBody>
          <a:bodyPr/>
          <a:p/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4381500" y="4972050"/>
            <a:ext cx="36195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K = 3</a:t>
            </a:r>
            <a:endParaRPr lang="en-US" sz="3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4381500" y="5514975"/>
            <a:ext cx="36195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末尾引入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Query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Block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数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" name="任意多边形 261"/>
          <p:cNvSpPr/>
          <p:nvPr/>
        </p:nvSpPr>
        <p:spPr>
          <a:xfrm>
            <a:off x="8001000" y="4972050"/>
            <a:ext cx="3829050" cy="1047750"/>
          </a:xfrm>
          <a:custGeom>
            <a:avLst/>
            <a:gdLst/>
            <a:ahLst/>
            <a:cxnLst/>
            <a:pathLst>
              <a:path w="402" h="110">
                <a:moveTo>
                  <a:pt x="0" y="0"/>
                </a:moveTo>
                <a:lnTo>
                  <a:pt x="2" y="0"/>
                </a:lnTo>
                <a:lnTo>
                  <a:pt x="2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E8EFF8"/>
          </a:solidFill>
        </p:spPr>
        <p:txBody>
          <a:bodyPr/>
          <a:p/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8191500" y="4972050"/>
            <a:ext cx="36195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2C</a:t>
            </a:r>
            <a:endParaRPr lang="en-US" sz="3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8191500" y="5514975"/>
            <a:ext cx="36195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可学习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Query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总数（每类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个）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381000" y="6334125"/>
            <a:ext cx="1390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ASEE · 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解剖语义增强编码</a:t>
            </a:r>
            <a:endParaRPr lang="zh-CN" sz="9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11315700" y="6324600"/>
            <a:ext cx="180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11496675" y="6324600"/>
            <a:ext cx="3143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/ 14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8" name="" descr="&lt;Slide style={{ width: 1280, height: 720, padding: 0, background: '#FFFFFF' }}&gt;&#13;&#10;    &lt;Box style={{ position: 'relative', width: 1280, height: 720 }}&gt;&#13;&#10;&#13;&#10;        &lt;Box style={{ position: 'absolute', left: 0, top: 0, width: 1280, height: 8, background: '#1E4FA8' }} /&gt;&#13;&#10;&#13;&#10;        {/* 页眉 */}&#13;&#10;        &lt;Box style={{ position: 'absolute', left: 40, top: 22, width: 1200, height: 30, flexDirection: 'row', alignItems: 'center' }}&gt;&#13;&#10;            &lt;Text style={{ fontSize: 12, color: '#3D7BD9', letterSpacing: 1.5 }}&gt;汇报大纲 · 三章结构&lt;/Text&gt;&#13;&#10;            &lt;Box style={{ flex: 1 }} /&gt;&#13;&#10;            &lt;Text style={{ fontSize: 12, color: '#8B97A8', letterSpacing: 0.8 }}&gt;3 章 · 正文 P4–P14&lt;/Text&gt;&#13;&#10;        &lt;/Box&gt;&#13;&#10;        &lt;Box style={{ position: 'absolute', left: 40, top: 60, width: 1200, height: 1, background: '#D6DCE5' }} /&gt;&#13;&#10;&#13;&#10;        {/* 左侧标题栏 */}&#13;&#10;        &lt;Box style={{ position: 'absolute', left: 40, top: 74, width: 360, height: 534, background: '#E8EFF8', padding: '34px 32px' }}&gt;&#13;&#10;            &lt;Box style={{ flexDirection: 'row', alignItems: 'center', gap: 8 }}&gt;&#13;&#10;                &lt;Box style={{ width: 3, height: 16, background: '#1E4FA8' }} /&gt;&#13;&#10;                &lt;Text style={{ fontSize: 12, color: '#3D7BD9', letterSpacing: 2 }}&gt;CONTENTS&lt;/Text&gt;&#13;&#10;            &lt;/Box&gt;&#13;&#10;            &lt;Box style={{ height: 14 }} /&gt;&#13;&#10;            &lt;Text style={{ fontSize: 46, fontWeight: 'bold', color: '#0E3F8C', lineHeight: 1.1 }}&gt;目录&lt;/Text&gt;&#13;&#10;            &lt;Box style={{ height: 18 }} /&gt;&#13;&#10;            &lt;Box style={{ width: 64, height: 2, background: '#1E4FA8' }} /&gt;&#13;&#10;            &lt;Box style={{ height: 18 }} /&gt;&#13;&#10;            &lt;Text style={{ fontSize: 15, color: '#4A5568', lineHeight: 1.9 }}&gt;&#13;&#10;                三章递进：先证明缺口确实存在，&#13;&#10;                再给出可推导的方法设计，&#13;&#10;                最后落到一行不改主干的改造路径。&#13;&#10;            &lt;/Text&gt;&#13;&#10;            &lt;Box style={{ flex: 1 }} /&gt;&#13;&#10;            &lt;Box style={{ borderTop: '1px solid #C6D7EE' }} /&gt;&#13;&#10;            &lt;Box style={{ height: 16 }} /&gt;&#13;&#10;            &lt;Box style={{ flexDirection: 'row', alignItems: 'flex-start', gap: 10 }}&gt;&#13;&#10;                &lt;Text style={{ fontSize: 12, fontWeight: 'bold', color: '#1E4FA8', width: 16, lineHeight: 1.7 }}&gt;1&lt;/Text&gt;&#13;&#10;                &lt;Text style={{ fontSize: 13, color: '#1A2230', lineHeight: 1.7 }}&gt;建库  E_prior = S ⊕ CP&lt;/Text&gt;&#13;&#10;            &lt;/Box&gt;&#13;&#10;            &lt;Box style={{ flexDirection: 'row', alignItems: 'flex-start', gap: 10 }}&gt;&#13;&#10;                &lt;Text style={{ fontSize: 12, fontWeight: 'bold', color: '#1E4FA8', width: 16, lineHeight: 1.7 }}&gt;2&lt;/Text&gt;&#13;&#10;                &lt;Text style={{ fontSize: 13, color: '#1A2230', lineHeight: 1.7 }}&gt;注图  T⁽⁰⁾ 交叉注意力查询先验&lt;/Text&gt;&#13;&#10;            &lt;/Box&gt;&#13;&#10;            &lt;Box style={{ flexDirection: 'row', alignItems: 'flex-start', gap: 10 }}&gt;&#13;&#10;                &lt;Text style={{ fontSize: 12, fontWeight: 'bold', color: '#1E4FA8', width: 16, lineHeight: 1.7 }}&gt;3&lt;/Text&gt;&#13;&#10;                &lt;Text style={{ fontSize: 13, color: '#1A2230', lineHeight: 1.7 }}&gt;注查询  Q̃⁽⁰⁾ = Q_init + MLP(E_prior)&lt;/Text&gt;&#13;&#10;            &lt;/Box&gt;&#13;&#10;            &lt;Box style={{ flex: 1 }} /&gt;&#13;&#10;            &lt;Box style={{ borderTop: '1px solid #C6D7EE', paddingTop: 14 }}&gt;&#13;&#10;                &lt;Text style={{ fontSize: 13, color: '#4A5568', lineHeight: 1.7 }}&gt;&#13;&#10;                    汇报范围：P4–P14&#13;&#10;                    &lt;br /&gt;&#13;&#10;                    核心模块：ASEE&#13;&#10;                &lt;/Text&gt;&#13;&#10;            &lt;/Box&gt;&#13;&#10;        &lt;/Box&gt;&#13;&#10;&#13;&#10;        {/* 右侧条目 */}&#13;&#10;        &lt;Box style={{ position: 'absolute', left: 448, top: 74, width: 792, height: 534 }}&gt;&#13;&#10;&#13;&#10;            &lt;Box style={{ flex: 1, flexDirection: 'row', alignItems: 'flex-start', borderTop: '1px solid #D6DCE5', paddingTop: 26 }}&gt;&#13;&#10;                &lt;Text style={{ width: 92, fontSize: 42, fontWeight: 'bold', color: '#9CB6DC', lineHeight: 1 }}&gt;01&lt;/Text&gt;&#13;&#10;                &lt;Box style={{ flex: 1, paddingRight: 16 }}&gt;&#13;&#10;                    &lt;Text style={{ fontSize: 26, fontWeight: 'bold', color: '#1A2230', lineHeight: 1.3 }}&gt;研究背景与动机&lt;/Text&gt;&#13;&#10;                    &lt;Box style={{ height: 10 }} /&gt;&#13;&#10;                    &lt;Text style={{ fontSize: 15, color: '#4A5568', lineHeight: 1.75 }}&gt;&#13;&#10;                        EoSeg 抛掉 U-Net 解码器后，Query 只能在纯视觉信号里自我生长；&#13;&#10;                        而胆囊、胰腺这类小器官的 Dice 恰是最低的两格。&#13;&#10;                    &lt;/Text&gt;&#13;&#10;                &lt;/Box&gt;&#13;&#10;                &lt;Text style={{ fontSize: 13, color: '#8B97A8', lineHeight: 1.6 }}&gt;P4–P6&lt;/Text&gt;&#13;&#10;            &lt;/Box&gt;&#13;&#10;&#13;&#10;            &lt;Box style={{ flex: 1, flexDirection: 'row', alignItems: 'flex-start', borderTop: '1px solid #D6DCE5', paddingTop: 26 }}&gt;&#13;&#10;                &lt;Text style={{ width: 92, fontSize: 42, fontWeight: 'bold', color: '#9CB6DC', lineHeight: 1 }}&gt;02&lt;/Text&gt;&#13;&#10;                &lt;Box style={{ flex: 1, paddingRight: 16 }}&gt;&#13;&#10;                    &lt;Text style={{ fontSize: 26, fontWeight: 'bold', color: '#1A2230', lineHeight: 1.3 }}&gt;方法设计：ASEE&lt;/Text&gt;&#13;&#10;                    &lt;Box style={{ height: 10 }} /&gt;&#13;&#10;                    &lt;Text style={{ fontSize: 15, color: '#4A5568', lineHeight: 1.75 }}&gt;&#13;&#10;                        语义模板 → 条件概率编码 → 双向注入，三步把解剖常识变成&#13;&#10;                        E_prior，再让 Patch Token 与 Query 各取所需。&#13;&#10;                    &lt;/Text&gt;&#13;&#10;                &lt;/Box&gt;&#13;&#10;                &lt;Text style={{ fontSize: 13, color: '#8B97A8', lineHeight: 1.6 }}&gt;P7–P11&lt;/Text&gt;&#13;&#10;            &lt;/Box&gt;&#13;&#10;&#13;&#10;            &lt;Box style={{ flex: 1, flexDirection: 'row', alignItems: 'flex-start', borderTop: '1px solid #D6DCE5', borderBottom: '1px solid #D6DCE5', paddingTop: 26 }}&gt;&#13;&#10;                &lt;Text style={{ width: 92, fontSize: 42, fontWeight: 'bold', color: '#9CB6DC', lineHeight: 1 }}&gt;03&lt;/Text&gt;&#13;&#10;                &lt;Box style={{ flex: 1, paddingRight: 16 }}&gt;&#13;&#10;                    &lt;Text style={{ fontSize: 26, fontWeight: 'bold', color: '#1A2230', lineHeight: 1.3 }}&gt;实现路径与预期收益&lt;/Text&gt;&#13;&#10;                    &lt;Box style={{ height: 10 }} /&gt;&#13;&#10;                    &lt;Text style={{ fontSize: 15, color: '#4A5568', lineHeight: 1.75 }}&gt;&#13;&#10;                        改动只发生在前向传播的一个节点，后 3 层 Block 与预测头全部保持原样，&#13;&#10;                        收益则定向落在两个弱势器官上。&#13;&#10;                    &lt;/Text&gt;&#13;&#10;                &lt;/Box&gt;&#13;&#10;                &lt;Text style={{ fontSize: 13, color: '#8B97A8', lineHeight: 1.6 }}&gt;P12–P14&lt;/Text&gt;&#13;&#10;            &lt;/Box&gt;&#13;&#10;        &lt;/Box&gt;&#13;&#10;&#13;&#10;        {/* 页脚 */}&#13;&#10;        &lt;Box style={{ position: 'absolute', left: 40, top: 664, width: 1200, flexDirection: 'row', alignItems: 'center' }}&gt;&#13;&#10;            &lt;Text style={{ fontSize: 13, color: '#8B97A8' }}&gt;ASEE · 解剖语义增强编码&lt;/Text&gt;&#13;&#10;            &lt;Box style={{ flex: 1 }} /&gt;&#13;&#10;            &lt;Text style={{ fontSize: 15, fontWeight: 'bold', color: '#1E4FA8' }}&gt;03&lt;/Text&gt;&#13;&#10;            &lt;Text style={{ fontSize: 15, color: '#8B97A8' }}&gt; / 14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矩形 2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70" name="矩形 26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381000" y="285750"/>
            <a:ext cx="11715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汇报大纲</a:t>
            </a:r>
            <a:r>
              <a:rPr lang="en-US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三章结构</a:t>
            </a:r>
            <a:endParaRPr lang="zh-CN" sz="900" spc="113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10715625" y="285750"/>
            <a:ext cx="10953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6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lang="zh-CN" sz="900" spc="6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00" spc="6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 spc="6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正文</a:t>
            </a:r>
            <a:r>
              <a:rPr lang="en-US" sz="900" spc="6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P4–P14</a:t>
            </a:r>
            <a:endParaRPr lang="en-US" sz="900" spc="6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" name="矩形 272"/>
          <p:cNvSpPr/>
          <p:nvPr/>
        </p:nvSpPr>
        <p:spPr>
          <a:xfrm>
            <a:off x="381000" y="571500"/>
            <a:ext cx="11430000" cy="9525"/>
          </a:xfrm>
          <a:prstGeom prst="rect">
            <a:avLst/>
          </a:prstGeom>
          <a:solidFill>
            <a:srgbClr val="D6DCE5"/>
          </a:solidFill>
        </p:spPr>
        <p:txBody>
          <a:bodyPr/>
          <a:p/>
        </p:txBody>
      </p:sp>
      <p:sp>
        <p:nvSpPr>
          <p:cNvPr id="274" name="矩形 273"/>
          <p:cNvSpPr/>
          <p:nvPr/>
        </p:nvSpPr>
        <p:spPr>
          <a:xfrm>
            <a:off x="381000" y="704850"/>
            <a:ext cx="3429000" cy="5086350"/>
          </a:xfrm>
          <a:prstGeom prst="rect">
            <a:avLst/>
          </a:prstGeom>
          <a:solidFill>
            <a:srgbClr val="E8EFF8"/>
          </a:solidFill>
        </p:spPr>
        <p:txBody>
          <a:bodyPr/>
          <a:p/>
        </p:txBody>
      </p:sp>
      <p:sp>
        <p:nvSpPr>
          <p:cNvPr id="275" name="矩形 274"/>
          <p:cNvSpPr/>
          <p:nvPr/>
        </p:nvSpPr>
        <p:spPr>
          <a:xfrm>
            <a:off x="685800" y="1028700"/>
            <a:ext cx="28575" cy="1524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790575" y="1038225"/>
            <a:ext cx="771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en-US" sz="900" spc="15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685800" y="1314450"/>
            <a:ext cx="2819400" cy="581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34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sz="34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矩形 277"/>
          <p:cNvSpPr/>
          <p:nvPr/>
        </p:nvSpPr>
        <p:spPr>
          <a:xfrm>
            <a:off x="685800" y="2066925"/>
            <a:ext cx="609600" cy="1905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685800" y="2257425"/>
            <a:ext cx="2819400" cy="981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三章递进：先证明缺口确实存在，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再给出可推导的方法设计，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最后落到一行不改主干的改造路径。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" name="任意多边形 279"/>
          <p:cNvSpPr/>
          <p:nvPr/>
        </p:nvSpPr>
        <p:spPr>
          <a:xfrm>
            <a:off x="685800" y="3562350"/>
            <a:ext cx="2819400" cy="19050"/>
          </a:xfrm>
          <a:custGeom>
            <a:avLst/>
            <a:gdLst/>
            <a:ahLst/>
            <a:cxnLst/>
            <a:pathLst>
              <a:path w="296" h="2">
                <a:moveTo>
                  <a:pt x="0" y="0"/>
                </a:moveTo>
                <a:lnTo>
                  <a:pt x="296" y="0"/>
                </a:lnTo>
                <a:lnTo>
                  <a:pt x="296" y="1"/>
                </a:lnTo>
                <a:lnTo>
                  <a:pt x="0" y="1"/>
                </a:lnTo>
                <a:close/>
              </a:path>
            </a:pathLst>
          </a:custGeom>
          <a:solidFill>
            <a:srgbClr val="C6D7EE"/>
          </a:solidFill>
        </p:spPr>
        <p:txBody>
          <a:bodyPr/>
          <a:p/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685800" y="3724275"/>
            <a:ext cx="152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9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933450" y="3724275"/>
            <a:ext cx="13049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建库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 E_prior = S ⊕ CP</a:t>
            </a:r>
            <a:endParaRPr lang="en-US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685800" y="3981450"/>
            <a:ext cx="152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9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933450" y="3981450"/>
            <a:ext cx="16668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注图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 T⁽⁰⁾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交叉注意力查询先验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685800" y="4238625"/>
            <a:ext cx="152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9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933450" y="4238625"/>
            <a:ext cx="2095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注查询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 Q̃⁽⁰⁾ = Q_init + MLP(E_prior)</a:t>
            </a:r>
            <a:endParaRPr lang="en-US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" name="任意多边形 286"/>
          <p:cNvSpPr/>
          <p:nvPr/>
        </p:nvSpPr>
        <p:spPr>
          <a:xfrm>
            <a:off x="685800" y="4810125"/>
            <a:ext cx="2819400" cy="666750"/>
          </a:xfrm>
          <a:custGeom>
            <a:avLst/>
            <a:gdLst/>
            <a:ahLst/>
            <a:cxnLst/>
            <a:pathLst>
              <a:path w="296" h="70">
                <a:moveTo>
                  <a:pt x="0" y="0"/>
                </a:moveTo>
                <a:lnTo>
                  <a:pt x="296" y="0"/>
                </a:lnTo>
                <a:lnTo>
                  <a:pt x="296" y="1"/>
                </a:lnTo>
                <a:lnTo>
                  <a:pt x="0" y="1"/>
                </a:lnTo>
                <a:close/>
              </a:path>
            </a:pathLst>
          </a:custGeom>
          <a:solidFill>
            <a:srgbClr val="C6D7EE"/>
          </a:solidFill>
        </p:spPr>
        <p:txBody>
          <a:bodyPr/>
          <a:p/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685800" y="4953000"/>
            <a:ext cx="2819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汇报范围：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P4–P14</a:t>
            </a:r>
            <a:endParaRPr lang="en-US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核心模块：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ASEE</a:t>
            </a:r>
            <a:endParaRPr lang="en-US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9" name="任意多边形 288"/>
          <p:cNvSpPr/>
          <p:nvPr/>
        </p:nvSpPr>
        <p:spPr>
          <a:xfrm>
            <a:off x="4267200" y="704850"/>
            <a:ext cx="7543800" cy="1704975"/>
          </a:xfrm>
          <a:custGeom>
            <a:avLst/>
            <a:gdLst/>
            <a:ahLst/>
            <a:cxnLst/>
            <a:pathLst>
              <a:path w="792" h="179">
                <a:moveTo>
                  <a:pt x="0" y="0"/>
                </a:moveTo>
                <a:lnTo>
                  <a:pt x="792" y="0"/>
                </a:lnTo>
                <a:lnTo>
                  <a:pt x="79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4267200" y="962025"/>
            <a:ext cx="8763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9CB6DC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3150" b="1">
              <a:solidFill>
                <a:srgbClr val="9CB6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5143500" y="962025"/>
            <a:ext cx="61436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研究背景与动机</a:t>
            </a:r>
            <a:endParaRPr lang="zh-CN" sz="19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5143500" y="1447800"/>
            <a:ext cx="614362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EoSeg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抛掉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U-Net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解码器后，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Query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只能在纯视觉信号里自我生长；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而胆囊、胰腺这类小器官的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Dice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恰是最低的两格。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11439525" y="962025"/>
            <a:ext cx="371475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P4–P6</a:t>
            </a:r>
            <a:endParaRPr lang="en-US" sz="9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" name="任意多边形 293"/>
          <p:cNvSpPr/>
          <p:nvPr/>
        </p:nvSpPr>
        <p:spPr>
          <a:xfrm>
            <a:off x="4267200" y="2400300"/>
            <a:ext cx="7543800" cy="1695450"/>
          </a:xfrm>
          <a:custGeom>
            <a:avLst/>
            <a:gdLst/>
            <a:ahLst/>
            <a:cxnLst/>
            <a:pathLst>
              <a:path w="792" h="178">
                <a:moveTo>
                  <a:pt x="0" y="0"/>
                </a:moveTo>
                <a:lnTo>
                  <a:pt x="792" y="0"/>
                </a:lnTo>
                <a:lnTo>
                  <a:pt x="79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4267200" y="2657475"/>
            <a:ext cx="8763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9CB6DC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3150" b="1">
              <a:solidFill>
                <a:srgbClr val="9CB6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5143500" y="2657475"/>
            <a:ext cx="60769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方法设计：</a:t>
            </a:r>
            <a:r>
              <a:rPr lang="en-US" sz="19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ASEE</a:t>
            </a:r>
            <a:endParaRPr lang="en-US" sz="19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5143500" y="3143250"/>
            <a:ext cx="60769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语义模板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条件概率编码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双向注入，三步把解剖常识变成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E_prior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，再让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Patch Token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Query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各取所需。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11372850" y="2657475"/>
            <a:ext cx="4381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P7–P11</a:t>
            </a:r>
            <a:endParaRPr lang="en-US" sz="9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任意多边形 298"/>
          <p:cNvSpPr/>
          <p:nvPr/>
        </p:nvSpPr>
        <p:spPr>
          <a:xfrm>
            <a:off x="4267200" y="4086225"/>
            <a:ext cx="7543800" cy="1724025"/>
          </a:xfrm>
          <a:custGeom>
            <a:avLst/>
            <a:gdLst/>
            <a:ahLst/>
            <a:cxnLst/>
            <a:pathLst>
              <a:path w="792" h="181">
                <a:moveTo>
                  <a:pt x="0" y="0"/>
                </a:moveTo>
                <a:lnTo>
                  <a:pt x="792" y="0"/>
                </a:lnTo>
                <a:lnTo>
                  <a:pt x="79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300" name="任意多边形 299"/>
          <p:cNvSpPr/>
          <p:nvPr/>
        </p:nvSpPr>
        <p:spPr>
          <a:xfrm>
            <a:off x="4267200" y="4086225"/>
            <a:ext cx="7543800" cy="1724025"/>
          </a:xfrm>
          <a:custGeom>
            <a:avLst/>
            <a:gdLst/>
            <a:ahLst/>
            <a:cxnLst/>
            <a:pathLst>
              <a:path w="792" h="181">
                <a:moveTo>
                  <a:pt x="0" y="180"/>
                </a:moveTo>
                <a:lnTo>
                  <a:pt x="792" y="180"/>
                </a:lnTo>
                <a:lnTo>
                  <a:pt x="792" y="181"/>
                </a:lnTo>
                <a:lnTo>
                  <a:pt x="0" y="18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4267200" y="4343400"/>
            <a:ext cx="8763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9CB6DC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3150" b="1">
              <a:solidFill>
                <a:srgbClr val="9CB6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5143500" y="4343400"/>
            <a:ext cx="60007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实现路径与预期收益</a:t>
            </a:r>
            <a:endParaRPr lang="zh-CN" sz="19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5143500" y="4829175"/>
            <a:ext cx="60007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改动只发生在前向传播的一个节点，后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层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Block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与预测头全部保持原样，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收益则定向落在两个弱势器官上。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11296650" y="4343400"/>
            <a:ext cx="514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P12–P14</a:t>
            </a:r>
            <a:endParaRPr lang="en-US" sz="9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381000" y="6334125"/>
            <a:ext cx="1390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ASEE · 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解剖语义增强编码</a:t>
            </a:r>
            <a:endParaRPr lang="zh-CN" sz="9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11315700" y="6324600"/>
            <a:ext cx="180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" name="文本框 306" descr="{&quot;isTemplate&quot;:true,&quot;type&quot;:&quot;text&quot;}"/>
          <p:cNvSpPr txBox="1"/>
          <p:nvPr/>
        </p:nvSpPr>
        <p:spPr>
          <a:xfrm>
            <a:off x="11496675" y="6324600"/>
            <a:ext cx="3143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/ 14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8" name="" descr="&lt;Slide style={{ width: 1280, height: 720, padding: 0, background: '#F7F9FC' }}&gt;&#13;&#10;    &lt;Box style={{ position: 'relative', width: 1280, height: 720 }}&gt;&#13;&#10;&#13;&#10;        &lt;Box style={{ position: 'absolute', left: 0, top: 0, width: 1280, height: 8, background: '#1E4FA8' }} /&gt;&#13;&#10;&#13;&#10;        {/* 巨型章节数字 */}&#13;&#10;        &lt;Box style={{ position: 'absolute', left: 0, top: 54, width: 1280, alignItems: 'center' }}&gt;&#13;&#10;            &lt;Text style={{ fontSize: 240, fontWeight: 'bold', color: '#E1EAF6', lineHeight: 1, letterSpacing: 8 }}&gt;01&lt;/Text&gt;&#13;&#10;        &lt;/Box&gt;&#13;&#10;&#13;&#10;        &lt;Box style={{ position: 'absolute', left: 0, top: 302, width: 1280, alignItems: 'center' }}&gt;&#13;&#10;            &lt;Text style={{ fontSize: 13, color: '#3D7BD9', letterSpacing: 3 }}&gt;CHAPTER 01 · BACKGROUND&lt;/Text&gt;&#13;&#10;        &lt;/Box&gt;&#13;&#10;&#13;&#10;        &lt;Box style={{ position: 'absolute', left: 0, top: 330, width: 1280, alignItems: 'center' }}&gt;&#13;&#10;            &lt;Text style={{ fontSize: 54, fontWeight: 'bold', color: '#0E3F8C', letterSpacing: 2 }}&gt;研究背景与动机&lt;/Text&gt;&#13;&#10;        &lt;/Box&gt;&#13;&#10;&#13;&#10;        &lt;Box style={{ position: 'absolute', left: 0, top: 410, width: 1280, alignItems: 'center' }}&gt;&#13;&#10;            &lt;Box style={{ width: 72, height: 3, background: '#3D7BD9' }} /&gt;&#13;&#10;        &lt;/Box&gt;&#13;&#10;&#13;&#10;        &lt;Box style={{ position: 'absolute', left: 290, top: 434, width: 700 }}&gt;&#13;&#10;            &lt;Text style={{ fontSize: 16, color: '#4A5568', lineHeight: 1.9, textAlign: 'center' }}&gt;&#13;&#10;                纯编码器把解码器省掉了，但 Query 的「从哪里开始找」这个问题并没有被回答——&#13;&#10;                这一章先把这个缺口对齐到具体的数据证据上。&#13;&#10;            &lt;/Text&gt;&#13;&#10;        &lt;/Box&gt;&#13;&#10;&#13;&#10;        {/* 章节逻辑链 */}&#13;&#10;        &lt;Box style={{ position: 'absolute', left: 190, top: 520, width: 900 }}&gt;&#13;&#10;            &lt;svg width={900} height={26} viewBox='0 0 900 26'&gt;&#13;&#10;                &lt;line x1='0' y1='13' x2='900' y2='13' stroke='#C6D7EE' strokeWidth='1' /&gt;&#13;&#10;                &lt;circle cx='150' cy='13' r='8' fill='#FFFFFF' stroke='#1E4FA8' strokeWidth='2.5' /&gt;&#13;&#10;                &lt;circle cx='450' cy='13' r='8' fill='#1E4FA8' /&gt;&#13;&#10;                &lt;circle cx='750' cy='13' r='8' fill='#FFFFFF' stroke='#1E4FA8' strokeWidth='2.5' /&gt;&#13;&#10;            &lt;/svg&gt;&#13;&#10;            &lt;Box style={{ flexDirection: 'row', marginTop: 16 }}&gt;&#13;&#10;                &lt;Box style={{ width: 300, alignItems: 'center', paddingRight: 20, paddingLeft: 20 }}&gt;&#13;&#10;                    &lt;Text style={{ fontSize: 15, fontWeight: 'bold', color: '#1A2230', lineHeight: 1.5, textAlign: 'center' }}&gt;纯编码器范式&lt;/Text&gt;&#13;&#10;                    &lt;Box style={{ height: 6 }} /&gt;&#13;&#10;                    &lt;Text style={{ fontSize: 13, color: '#4A5568', lineHeight: 1.7, textAlign: 'center' }}&gt;&#13;&#10;                        解码器被移除&#13;&#10;                        &lt;br /&gt;&#13;&#10;                        Query 只能从零学起&#13;&#10;                    &lt;/Text&gt;&#13;&#10;                &lt;/Box&gt;&#13;&#10;                &lt;Box style={{ width: 300, alignItems: 'center', paddingRight: 20, paddingLeft: 20 }}&gt;&#13;&#10;                    &lt;Text style={{ fontSize: 15, fontWeight: 'bold', color: '#1A2230', lineHeight: 1.5, textAlign: 'center' }}&gt;解剖空间拓扑&lt;/Text&gt;&#13;&#10;                    &lt;Box style={{ height: 6 }} /&gt;&#13;&#10;                    &lt;Text style={{ fontSize: 13, color: '#4A5568', lineHeight: 1.7, textAlign: 'center' }}&gt;&#13;&#10;                        器官位置高度规律&#13;&#10;                        &lt;br /&gt;&#13;&#10;                        共现关系可被显式编码&#13;&#10;                    &lt;/Text&gt;&#13;&#10;                &lt;/Box&gt;&#13;&#10;                &lt;Box style={{ width: 300, alignItems: 'center', paddingRight: 20, paddingLeft: 20 }}&gt;&#13;&#10;                    &lt;Text style={{ fontSize: 15, fontWeight: 'bold', color: '#1A2230', lineHeight: 1.5, textAlign: 'center' }}&gt;Dice 结构性失衡&lt;/Text&gt;&#13;&#10;                    &lt;Box style={{ height: 6 }} /&gt;&#13;&#10;                    &lt;Text style={{ fontSize: 13, color: '#4A5568', lineHeight: 1.7, textAlign: 'center' }}&gt;&#13;&#10;                        胆囊与胰腺垫底&#13;&#10;                        &lt;br /&gt;&#13;&#10;                        缺口集中在弱势类别&#13;&#10;                    &lt;/Text&gt;&#13;&#10;                &lt;/Box&gt;&#13;&#10;            &lt;/Box&gt;&#13;&#10;        &lt;/Box&gt;&#13;&#10;&#13;&#10;        {/* 页脚 */}&#13;&#10;        &lt;Box style={{ position: 'absolute', left: 40, top: 664, width: 1200, flexDirection: 'row', alignItems: 'center' }}&gt;&#13;&#10;            &lt;Text style={{ fontSize: 13, color: '#8B97A8' }}&gt;ASEE · 解剖语义增强编码&lt;/Text&gt;&#13;&#10;            &lt;Box style={{ flex: 1 }} /&gt;&#13;&#10;            &lt;Text style={{ fontSize: 15, fontWeight: 'bold', color: '#1E4FA8' }}&gt;04&lt;/Text&gt;&#13;&#10;            &lt;Text style={{ fontSize: 15, color: '#8B97A8' }}&gt; / 14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矩形 3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310" name="矩形 30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4610100" y="514350"/>
            <a:ext cx="2981325" cy="2743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 spc="600">
                <a:solidFill>
                  <a:srgbClr val="E1EAF6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8000" b="1" spc="600">
              <a:solidFill>
                <a:srgbClr val="E1EA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4895850" y="2876550"/>
            <a:ext cx="2400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CHAPTER 01 · BACKGROUND</a:t>
            </a:r>
            <a:endParaRPr lang="en-US" sz="975" spc="225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4229100" y="3143250"/>
            <a:ext cx="3733800" cy="619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050" b="1" spc="15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研究背景与动机</a:t>
            </a:r>
            <a:endParaRPr lang="zh-CN" sz="4050" b="1" spc="15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矩形 313"/>
          <p:cNvSpPr/>
          <p:nvPr/>
        </p:nvSpPr>
        <p:spPr>
          <a:xfrm>
            <a:off x="5753100" y="3905250"/>
            <a:ext cx="685800" cy="28575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315" name="文本框 314" descr="{&quot;isTemplate&quot;:true,&quot;type&quot;:&quot;text&quot;}"/>
          <p:cNvSpPr txBox="1"/>
          <p:nvPr/>
        </p:nvSpPr>
        <p:spPr>
          <a:xfrm>
            <a:off x="2762250" y="4133850"/>
            <a:ext cx="666750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ctr">
              <a:lnSpc>
                <a:spcPct val="190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纯编码器把解码器省掉了，但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Query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的「从哪里开始找」这个问题并没有被回答——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这一章先把这个缺口对齐到具体的数据证据上。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16" name="图片 31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09750" y="4953000"/>
            <a:ext cx="8572500" cy="247650"/>
          </a:xfrm>
          <a:prstGeom prst="rect">
            <a:avLst/>
          </a:prstGeom>
        </p:spPr>
      </p:pic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2809875" y="5353050"/>
            <a:ext cx="857250" cy="2571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纯编码器范式</a:t>
            </a:r>
            <a:endParaRPr lang="zh-CN" sz="112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2667000" y="5667375"/>
            <a:ext cx="1152525" cy="5143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解码器被移除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70000"/>
              </a:lnSpc>
            </a:pP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Query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只能从零学起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" name="文本框 318" descr="{&quot;isTemplate&quot;:true,&quot;type&quot;:&quot;text&quot;}"/>
          <p:cNvSpPr txBox="1"/>
          <p:nvPr/>
        </p:nvSpPr>
        <p:spPr>
          <a:xfrm>
            <a:off x="5667375" y="5353050"/>
            <a:ext cx="857250" cy="2571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解剖空间拓扑</a:t>
            </a:r>
            <a:endParaRPr lang="zh-CN" sz="112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" name="文本框 319" descr="{&quot;isTemplate&quot;:true,&quot;type&quot;:&quot;text&quot;}"/>
          <p:cNvSpPr txBox="1"/>
          <p:nvPr/>
        </p:nvSpPr>
        <p:spPr>
          <a:xfrm>
            <a:off x="5476875" y="5667375"/>
            <a:ext cx="1238250" cy="5143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器官位置高度规律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7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共现关系可被显式编码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8420100" y="5353050"/>
            <a:ext cx="1076325" cy="2571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Dice </a:t>
            </a:r>
            <a:r>
              <a:rPr lang="zh-CN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结构性失衡</a:t>
            </a:r>
            <a:endParaRPr lang="zh-CN" sz="112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8401050" y="5667375"/>
            <a:ext cx="1114425" cy="5143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胆囊与胰腺垫底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7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缺口集中在弱势类别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381000" y="6334125"/>
            <a:ext cx="1390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ASEE · 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解剖语义增强编码</a:t>
            </a:r>
            <a:endParaRPr lang="zh-CN" sz="9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4" name="文本框 323" descr="{&quot;isTemplate&quot;:true,&quot;type&quot;:&quot;text&quot;}"/>
          <p:cNvSpPr txBox="1"/>
          <p:nvPr/>
        </p:nvSpPr>
        <p:spPr>
          <a:xfrm>
            <a:off x="11315700" y="6324600"/>
            <a:ext cx="180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11496675" y="6324600"/>
            <a:ext cx="3143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/ 14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6" name="" descr="&lt;Slide style={{ width: 1280, height: 720, padding: 0, background: '#FFFFFF' }}&gt;&#13;&#10;    &lt;Box style={{ position: 'relative', width: 1280, height: 720 }}&gt;&#13;&#10;&#13;&#10;        &lt;Box style={{ position: 'absolute', left: 0, top: 0, width: 1280, height: 8, background: '#1E4FA8' }} /&gt;&#13;&#10;&#13;&#10;        {/* 页眉 */}&#13;&#10;        &lt;Box style={{ position: 'absolute', left: 40, top: 22, width: 1200, height: 60, flexDirection: 'row', alignItems: 'center' }}&gt;&#13;&#10;            &lt;Box&gt;&#13;&#10;                &lt;Text style={{ fontSize: 12, color: '#3D7BD9', letterSpacing: 1.5 }}&gt;01 / 研究背景与动机&lt;/Text&gt;&#13;&#10;                &lt;Box style={{ height: 4 }} /&gt;&#13;&#10;                &lt;Text style={{ fontSize: 32, fontWeight: 'bold', color: '#0E3F8C', letterSpacing: 0.5 }}&gt;EoSeg 的结构性缺口：有 Query，无先验&lt;/Text&gt;&#13;&#10;            &lt;/Box&gt;&#13;&#10;            &lt;Box style={{ flex: 1 }} /&gt;&#13;&#10;            &lt;Box style={{ background: '#E8EFF8', borderRadius: 3, padding: '6px 14px' }}&gt;&#13;&#10;                &lt;Text style={{ fontSize: 12, color: '#1E4FA8', fontWeight: 'bold', letterSpacing: 1 }}&gt;图 1 / 前向结构&lt;/Text&gt;&#13;&#10;            &lt;/Box&gt;&#13;&#10;        &lt;/Box&gt;&#13;&#10;        &lt;Box style={{ position: 'absolute', left: 40, top: 92, width: 1200, height: 1, background: '#D6DCE5' }} /&gt;&#13;&#10;&#13;&#10;        {/* 左：结构图 */}&#13;&#10;        &lt;Box style={{ position: 'absolute', left: 40, top: 108, width: 736, height: 532 }}&gt;&#13;&#10;&#13;&#10;            &lt;Box style={{ height: 74, background: '#F7F9FC', border: '1px solid #D6DCE5', borderRadius: 3, padding: '10px 18px', justifyContent: 'center' }}&gt;&#13;&#10;                &lt;Text style={{ fontSize: 15, fontWeight: 'bold', color: '#1A2230', lineHeight: 1.4 }}&gt;DINOv2 Backbone · Block 1 … L−3&lt;/Text&gt;&#13;&#10;                &lt;Text style={{ fontSize: 12, color: '#8B97A8', lineHeight: 1.5 }}&gt;保持原样，不参与本次改造&lt;/Text&gt;&#13;&#10;            &lt;/Box&gt;&#13;&#10;&#13;&#10;            &lt;Box style={{ height: 20, alignItems: 'center', justifyContent: 'center' }}&gt;&#13;&#10;                &lt;svg width={20} height={20} viewBox='0 0 20 20'&gt;&#13;&#10;                    &lt;path d='M10 2 L10 13 M6 10 L10 15 L14 10' stroke='#9CB6DC' strokeWidth='1.6' fill='none' /&gt;&#13;&#10;                &lt;/svg&gt;&#13;&#10;            &lt;/Box&gt;&#13;&#10;&#13;&#10;            &lt;Box style={{ height: 62, background: '#FFFFFF', border: '1px dashed #3D7BD9', borderRadius: 3, padding: '8px 18px', justifyContent: 'center' }}&gt;&#13;&#10;                &lt;Text style={{ fontSize: 15, fontWeight: 'bold', color: '#1E4FA8', lineHeight: 1.4 }}&gt;Patch Tokens  T⁽⁰⁾ · N_p × d 维&lt;/Text&gt;&#13;&#10;                &lt;Text style={{ fontSize: 12, color: '#8B97A8', lineHeight: 1.5 }}&gt;ASEE 的注入点就在这一步之后&lt;/Text&gt;&#13;&#10;            &lt;/Box&gt;&#13;&#10;&#13;&#10;            &lt;Box style={{ height: 20, alignItems: 'center', justifyContent: 'center' }}&gt;&#13;&#10;                &lt;svg width={20} height={20} viewBox='0 0 20 20'&gt;&#13;&#10;                    &lt;path d='M10 2 L10 13 M6 10 L10 15 L14 10' stroke='#9CB6DC' strokeWidth='1.6' fill='none' /&gt;&#13;&#10;                &lt;/svg&gt;&#13;&#10;            &lt;/Box&gt;&#13;&#10;&#13;&#10;            &lt;Box style={{ height: 204, background: '#E8EFF8', border: '1.5px solid #1E4FA8', borderRadius: 3, padding: '16px 20px' }}&gt;&#13;&#10;                &lt;Text style={{ fontSize: 16, fontWeight: 'bold', color: '#0E3F8C', lineHeight: 1.4 }}&gt;最后 K = 3 个 Transformer Block&lt;/Text&gt;&#13;&#10;                &lt;Box style={{ height: 4 }} /&gt;&#13;&#10;                &lt;Text style={{ fontSize: 12, color: '#4A5568', lineHeight: 1.5 }}&gt;Multi-level Query Modeling 阶段&lt;/Text&gt;&#13;&#10;                &lt;Box style={{ height: 14 }} /&gt;&#13;&#10;                &lt;Box style={{ flexDirection: 'row', alignItems: 'center', gap: 14 }}&gt;&#13;&#10;                    &lt;Box style={{ flex: 1, background: '#FFFFFF', border: '1px solid #C6D7EE', borderRadius: 14, padding: '8px 0', alignItems: 'center' }}&gt;&#13;&#10;                        &lt;Text style={{ fontSize: 13, color: '#1E4FA8', fontWeight: 'bold' }}&gt;Q⁽⁰⁾ · 随机初始化&lt;/Text&gt;&#13;&#10;                    &lt;/Box&gt;&#13;&#10;                    &lt;svg width={56} height={18} viewBox='0 0 56 18'&gt;&#13;&#10;                        &lt;path d='M2 9 L50 9 M44 4 L50 9 L44 14' stroke='#1E4FA8' strokeWidth='1.6' fill='none' /&gt;&#13;&#10;                        &lt;path d='M54 9 L6 9 M12 4 L6 9 L12 14' stroke='#1E4FA8' strokeWidth='1.6' fill='none' /&gt;&#13;&#10;                    &lt;/svg&gt;&#13;&#10;                    &lt;Box style={{ flex: 1, background: '#FFFFFF', border: '1px solid #C6D7EE', borderRadius: 14, padding: '8px 0', alignItems: 'center' }}&gt;&#13;&#10;                        &lt;Text style={{ fontSize: 13, color: '#1E4FA8', fontWeight: 'bold' }}&gt;T⁽⁰⁾ · 图像特征&lt;/Text&gt;&#13;&#10;                    &lt;/Box&gt;&#13;&#10;                &lt;/Box&gt;&#13;&#10;                &lt;Box style={{ height: 12 }} /&gt;&#13;&#10;                &lt;Text style={{ fontSize: 12, color: '#4A5568', lineHeight: 1.6 }}&gt;&#13;&#10;                    每个类别 2 个 Query，共 N_q = 2C；自注意力交互中，Query 的起点是「零信息」。&#13;&#10;                &lt;/Text&gt;&#13;&#10;            &lt;/Box&gt;&#13;&#10;&#13;&#10;            &lt;Box style={{ height: 20, alignItems: 'center', justifyContent: 'center' }}&gt;&#13;&#10;                &lt;svg width={20} height={20} viewBox='0 0 20 20'&gt;&#13;&#10;                    &lt;path d='M10 2 L10 13 M6 10 L10 15 L14 10' stroke='#9CB6DC' strokeWidth='1.6' fill='none' /&gt;&#13;&#10;                &lt;/svg&gt;&#13;&#10;            &lt;/Box&gt;&#13;&#10;&#13;&#10;            &lt;Box style={{ height: 64, flexDirection: 'row', gap: 16 }}&gt;&#13;&#10;                &lt;Box style={{ flex: 1, background: '#F7F9FC', border: '1px solid #D6DCE5', borderRadius: 3, alignItems: 'center', justifyContent: 'center' }}&gt;&#13;&#10;                    &lt;Text style={{ fontSize: 14, color: '#1A2230' }}&gt;Learnable Block Fusion&lt;/Text&gt;&#13;&#10;                &lt;/Box&gt;&#13;&#10;                &lt;Box style={{ flex: 1, background: '#F7F9FC', border: '1px solid #D6DCE5', borderRadius: 3, alignItems: 'center', justifyContent: 'center' }}&gt;&#13;&#10;                    &lt;Text style={{ fontSize: 14, color: '#1A2230' }}&gt;Prediction Head&lt;/Text&gt;&#13;&#10;                &lt;/Box&gt;&#13;&#10;            &lt;/Box&gt;&#13;&#10;&#13;&#10;            &lt;Box style={{ flex: 1 }} /&gt;&#13;&#10;            &lt;Text style={{ fontSize: 12, color: '#8B97A8', lineHeight: 1.6 }}&gt;&#13;&#10;                改造范围示意：入口到 T⁽⁰⁾ 之间为新增模块，其余环节保持 EoSeg 原始逻辑。&#13;&#10;            &lt;/Text&gt;&#13;&#10;        &lt;/Box&gt;&#13;&#10;&#13;&#10;        {/* 右：解读 */}&#13;&#10;        &lt;Box style={{ position: 'absolute', left: 800, top: 108, width: 440, height: 532 }}&gt;&#13;&#10;&#13;&#10;            &lt;Box style={{ height: 208, background: '#F0F5FC', borderLeft: '3px solid #1E4FA8', borderRadius: 3, padding: '18px 20px' }}&gt;&#13;&#10;                &lt;Text style={{ fontSize: 22, fontWeight: 'bold', color: '#0E3F8C', lineHeight: 1.4 }}&gt;基线的三个事实&lt;/Text&gt;&#13;&#10;                &lt;Box style={{ height: 12 }} /&gt;&#13;&#10;                &lt;Box style={{ flexDirection: 'row', gap: 8 }}&gt;&#13;&#10;                    &lt;Text style={{ fontSize: 13, fontWeight: 'bold', color: '#1E4FA8', lineHeight: 1.8 }}&gt;·&lt;/Text&gt;&#13;&#10;                    &lt;Text style={{ flex: 1, fontSize: 14, color: '#1A2230', lineHeight: 1.8 }}&gt;纯编码器架构，彻底移除了 U-Net 解码器&lt;/Text&gt;&#13;&#10;                &lt;/Box&gt;&#13;&#10;                &lt;Box style={{ flexDirection: 'row', gap: 8 }}&gt;&#13;&#10;                    &lt;Text style={{ fontSize: 13, fontWeight: 'bold', color: '#1E4FA8', lineHeight: 1.8 }}&gt;·&lt;/Text&gt;&#13;&#10;                    &lt;Text style={{ flex: 1, fontSize: 14, color: '#1A2230', lineHeight: 1.8 }}&gt;仅在最后 K = 3 个 Block 内引入 Query&lt;/Text&gt;&#13;&#10;                &lt;/Box&gt;&#13;&#10;                &lt;Box style={{ flexDirection: 'row', gap: 8 }}&gt;&#13;&#10;                    &lt;Text style={{ fontSize: 13, fontWeight: 'bold', color: '#1E4FA8', lineHeight: 1.8 }}&gt;·&lt;/Text&gt;&#13;&#10;                    &lt;Text style={{ flex: 1, fontSize: 14, color: '#1A2230', lineHeight: 1.8 }}&gt;Query 由随机初始化得到，无类别语义&lt;/Text&gt;&#13;&#10;                &lt;/Box&gt;&#13;&#10;                &lt;Box style={{ flex: 1 }} /&gt;&#13;&#10;                &lt;Box style={{ borderTop: '1px solid #C6D7EE', paddingTop: 10 }}&gt;&#13;&#10;                    &lt;Text style={{ fontSize: 13, color: '#4A5568', lineHeight: 1.6 }}&gt;纯视觉驱动 · 零解剖先验&lt;/Text&gt;&#13;&#10;                &lt;/Box&gt;&#13;&#10;            &lt;/Box&gt;&#13;&#10;&#13;&#10;            &lt;Box style={{ height: 18 }} /&gt;&#13;&#10;&#13;&#10;            &lt;Box style={{ height: 186, background: '#FFFFFF', border: '1px solid #D6DCE5', borderRadius: 3, padding: '18px 20px' }}&gt;&#13;&#10;                &lt;Text style={{ fontSize: 20, fontWeight: 'bold', color: '#1A2230', lineHeight: 1.4 }}&gt;为什么这会伤到小器官&lt;/Text&gt;&#13;&#10;                &lt;Box style={{ height: 10 }} /&gt;&#13;&#10;                &lt;Text style={{ fontSize: 14, color: '#4A5568', lineHeight: 1.9 }}&gt;&#13;&#10;                    结构极简换来效率，但 Query 的起点对解剖位置一无所知。&#13;&#10;                    在腹部切片里，胆囊像素占比极低、边界与肝实质相邻，&#13;&#10;                    只能靠数据量硬扛；当大器官占据主导梯度时，它很难被优先选中。&#13;&#10;                &lt;/Text&gt;&#13;&#10;            &lt;/Box&gt;&#13;&#10;&#13;&#10;            &lt;Box style={{ height: 18 }} /&gt;&#13;&#10;&#13;&#10;            &lt;Box style={{ height: 102, background: '#0E3F8C', borderRadius: 3, padding: '16px 20px' }}&gt;&#13;&#10;                &lt;Text style={{ fontSize: 12, color: '#9DB8E0', letterSpacing: 1.5 }}&gt;判断&lt;/Text&gt;&#13;&#10;                &lt;Box style={{ height: 6 }} /&gt;&#13;&#10;                &lt;Text style={{ fontSize: 15, color: '#FFFFFF', lineHeight: 1.7, fontWeight: 'bold' }}&gt;&#13;&#10;                    瓶颈不在表征能力，而在 Query 缺少解剖锚点。&#13;&#10;                &lt;/Text&gt;&#13;&#10;            &lt;/Box&gt;&#13;&#10;        &lt;/Box&gt;&#13;&#10;&#13;&#10;        {/* 页脚 */}&#13;&#10;        &lt;Box style={{ position: 'absolute', left: 40, top: 664, width: 1200, flexDirection: 'row', alignItems: 'center' }}&gt;&#13;&#10;            &lt;Text style={{ fontSize: 13, color: '#8B97A8' }}&gt;ASEE · 解剖语义增强编码&lt;/Text&gt;&#13;&#10;            &lt;Box style={{ flex: 1 }} /&gt;&#13;&#10;            &lt;Text style={{ fontSize: 15, fontWeight: 'bold', color: '#1E4FA8' }}&gt;05&lt;/Text&gt;&#13;&#10;            &lt;Text style={{ fontSize: 15, color: '#8B97A8' }}&gt; / 14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矩形 3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28" name="矩形 32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381000" y="219075"/>
            <a:ext cx="5829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01 / </a:t>
            </a:r>
            <a:r>
              <a:rPr lang="zh-CN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研究背景与动机</a:t>
            </a:r>
            <a:endParaRPr lang="zh-CN" sz="900" spc="113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0" name="文本框 329" descr="{&quot;isTemplate&quot;:true,&quot;type&quot;:&quot;text&quot;}"/>
          <p:cNvSpPr txBox="1"/>
          <p:nvPr/>
        </p:nvSpPr>
        <p:spPr>
          <a:xfrm>
            <a:off x="381000" y="400050"/>
            <a:ext cx="58293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 spc="38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EoSeg </a:t>
            </a:r>
            <a:r>
              <a:rPr lang="zh-CN" sz="2400" b="1" spc="38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的结构性缺口：有</a:t>
            </a:r>
            <a:r>
              <a:rPr lang="en-US" sz="2400" b="1" spc="38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Query</a:t>
            </a:r>
            <a:r>
              <a:rPr lang="zh-CN" sz="2400" b="1" spc="38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，无先验</a:t>
            </a:r>
            <a:endParaRPr lang="zh-CN" sz="2400" b="1" spc="38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1" name="圆角矩形 330"/>
          <p:cNvSpPr/>
          <p:nvPr/>
        </p:nvSpPr>
        <p:spPr>
          <a:xfrm>
            <a:off x="10648950" y="371475"/>
            <a:ext cx="1162050" cy="257175"/>
          </a:xfrm>
          <a:prstGeom prst="roundRect">
            <a:avLst>
              <a:gd name="adj" fmla="val 11111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10782300" y="428625"/>
            <a:ext cx="8953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图</a:t>
            </a:r>
            <a:r>
              <a:rPr lang="en-US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 1 / </a:t>
            </a: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前向结构</a:t>
            </a:r>
            <a:endParaRPr lang="zh-CN" sz="900" b="1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3" name="矩形 332"/>
          <p:cNvSpPr/>
          <p:nvPr/>
        </p:nvSpPr>
        <p:spPr>
          <a:xfrm>
            <a:off x="381000" y="876300"/>
            <a:ext cx="11430000" cy="9525"/>
          </a:xfrm>
          <a:prstGeom prst="rect">
            <a:avLst/>
          </a:prstGeom>
          <a:solidFill>
            <a:srgbClr val="D6DCE5"/>
          </a:solidFill>
        </p:spPr>
        <p:txBody>
          <a:bodyPr/>
          <a:p/>
        </p:txBody>
      </p:sp>
      <p:sp>
        <p:nvSpPr>
          <p:cNvPr id="334" name="圆角矩形 333"/>
          <p:cNvSpPr/>
          <p:nvPr/>
        </p:nvSpPr>
        <p:spPr>
          <a:xfrm>
            <a:off x="381000" y="1028700"/>
            <a:ext cx="7010400" cy="704850"/>
          </a:xfrm>
          <a:prstGeom prst="roundRect">
            <a:avLst>
              <a:gd name="adj" fmla="val 405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552450" y="1152525"/>
            <a:ext cx="66675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DINOv2 Backbone · Block 1 … L−3</a:t>
            </a:r>
            <a:endParaRPr lang="en-US" sz="112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552450" y="1400175"/>
            <a:ext cx="6667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保持原样，不参与本次改造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37" name="图片 33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90950" y="1733550"/>
            <a:ext cx="190500" cy="190500"/>
          </a:xfrm>
          <a:prstGeom prst="rect">
            <a:avLst/>
          </a:prstGeom>
        </p:spPr>
      </p:pic>
      <p:sp>
        <p:nvSpPr>
          <p:cNvPr id="338" name="圆角矩形 337"/>
          <p:cNvSpPr/>
          <p:nvPr/>
        </p:nvSpPr>
        <p:spPr>
          <a:xfrm>
            <a:off x="381000" y="1924050"/>
            <a:ext cx="7010400" cy="59055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3D7BD9"/>
            </a:solidFill>
            <a:prstDash val="dash"/>
          </a:ln>
        </p:spPr>
        <p:txBody>
          <a:bodyPr/>
          <a:p/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552450" y="1990725"/>
            <a:ext cx="66675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Patch Tokens  T⁽⁰⁾ · N_p × d </a:t>
            </a:r>
            <a:r>
              <a:rPr lang="zh-CN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维</a:t>
            </a:r>
            <a:endParaRPr lang="zh-CN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552450" y="2238375"/>
            <a:ext cx="6667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ASEE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的注入点就在这一步之后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41" name="图片 3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90950" y="2514600"/>
            <a:ext cx="190500" cy="190500"/>
          </a:xfrm>
          <a:prstGeom prst="rect">
            <a:avLst/>
          </a:prstGeom>
        </p:spPr>
      </p:pic>
      <p:sp>
        <p:nvSpPr>
          <p:cNvPr id="342" name="圆角矩形 341"/>
          <p:cNvSpPr/>
          <p:nvPr/>
        </p:nvSpPr>
        <p:spPr>
          <a:xfrm>
            <a:off x="381000" y="2705100"/>
            <a:ext cx="7010400" cy="1943100"/>
          </a:xfrm>
          <a:prstGeom prst="roundRect">
            <a:avLst>
              <a:gd name="adj" fmla="val 1471"/>
            </a:avLst>
          </a:prstGeom>
          <a:solidFill>
            <a:srgbClr val="E8EFF8"/>
          </a:solidFill>
          <a:ln w="1905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571500" y="2857500"/>
            <a:ext cx="6629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最后</a:t>
            </a: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K = 3 </a:t>
            </a: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Transformer Block</a:t>
            </a:r>
            <a:endParaRPr lang="en-US" sz="1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571500" y="3152775"/>
            <a:ext cx="6629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Multi-level Query Modeling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阶段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5" name="圆角矩形 344"/>
          <p:cNvSpPr/>
          <p:nvPr/>
        </p:nvSpPr>
        <p:spPr>
          <a:xfrm>
            <a:off x="571500" y="3495675"/>
            <a:ext cx="2914650" cy="304800"/>
          </a:xfrm>
          <a:prstGeom prst="roundRect">
            <a:avLst>
              <a:gd name="adj" fmla="val 43750"/>
            </a:avLst>
          </a:prstGeom>
          <a:solidFill>
            <a:srgbClr val="FFFFFF"/>
          </a:solidFill>
          <a:ln w="12700">
            <a:solidFill>
              <a:srgbClr val="C6D7EE"/>
            </a:solidFill>
            <a:prstDash val="solid"/>
          </a:ln>
        </p:spPr>
        <p:txBody>
          <a:bodyPr/>
          <a:p/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1533525" y="3571875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Q⁽⁰⁾ · </a:t>
            </a:r>
            <a:r>
              <a:rPr lang="zh-CN" sz="9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随机初始化</a:t>
            </a:r>
            <a:endParaRPr lang="zh-CN" sz="9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47" name="图片 3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9500" y="3562350"/>
            <a:ext cx="533400" cy="171450"/>
          </a:xfrm>
          <a:prstGeom prst="rect">
            <a:avLst/>
          </a:prstGeom>
        </p:spPr>
      </p:pic>
      <p:sp>
        <p:nvSpPr>
          <p:cNvPr id="348" name="圆角矩形 347"/>
          <p:cNvSpPr/>
          <p:nvPr/>
        </p:nvSpPr>
        <p:spPr>
          <a:xfrm>
            <a:off x="4286250" y="3495675"/>
            <a:ext cx="2914650" cy="304800"/>
          </a:xfrm>
          <a:prstGeom prst="roundRect">
            <a:avLst>
              <a:gd name="adj" fmla="val 43750"/>
            </a:avLst>
          </a:prstGeom>
          <a:solidFill>
            <a:srgbClr val="FFFFFF"/>
          </a:solidFill>
          <a:ln w="12700">
            <a:solidFill>
              <a:srgbClr val="C6D7EE"/>
            </a:solidFill>
            <a:prstDash val="solid"/>
          </a:ln>
        </p:spPr>
        <p:txBody>
          <a:bodyPr/>
          <a:p/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5324475" y="3571875"/>
            <a:ext cx="847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T⁽⁰⁾ · </a:t>
            </a:r>
            <a:r>
              <a:rPr lang="zh-CN" sz="9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图像特征</a:t>
            </a:r>
            <a:endParaRPr lang="zh-CN" sz="9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571500" y="3914775"/>
            <a:ext cx="66294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每个类别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Query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，共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N_q = 2C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；自注意力交互中，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Query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的起点是「零信息」。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51" name="图片 35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90950" y="4648200"/>
            <a:ext cx="190500" cy="190500"/>
          </a:xfrm>
          <a:prstGeom prst="rect">
            <a:avLst/>
          </a:prstGeom>
        </p:spPr>
      </p:pic>
      <p:sp>
        <p:nvSpPr>
          <p:cNvPr id="352" name="圆角矩形 351"/>
          <p:cNvSpPr/>
          <p:nvPr/>
        </p:nvSpPr>
        <p:spPr>
          <a:xfrm>
            <a:off x="381000" y="4838700"/>
            <a:ext cx="3429000" cy="609600"/>
          </a:xfrm>
          <a:prstGeom prst="roundRect">
            <a:avLst>
              <a:gd name="adj" fmla="val 468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1362075" y="5067300"/>
            <a:ext cx="1466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Learnable Block Fusion</a:t>
            </a:r>
            <a:endParaRPr lang="en-US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4" name="圆角矩形 353"/>
          <p:cNvSpPr/>
          <p:nvPr/>
        </p:nvSpPr>
        <p:spPr>
          <a:xfrm>
            <a:off x="3962400" y="4838700"/>
            <a:ext cx="3429000" cy="609600"/>
          </a:xfrm>
          <a:prstGeom prst="roundRect">
            <a:avLst>
              <a:gd name="adj" fmla="val 468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5162550" y="5067300"/>
            <a:ext cx="10287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Prediction Head</a:t>
            </a:r>
            <a:endParaRPr lang="en-US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381000" y="5867400"/>
            <a:ext cx="70104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改造范围示意：入口到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T⁽⁰⁾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之间为新增模块，其余环节保持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EoSeg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原始逻辑。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7" name="圆角矩形 356"/>
          <p:cNvSpPr/>
          <p:nvPr/>
        </p:nvSpPr>
        <p:spPr>
          <a:xfrm>
            <a:off x="7648575" y="1028700"/>
            <a:ext cx="4191000" cy="1981200"/>
          </a:xfrm>
          <a:prstGeom prst="roundRect">
            <a:avLst>
              <a:gd name="adj" fmla="val 1442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358" name="任意多边形 357"/>
          <p:cNvSpPr/>
          <p:nvPr/>
        </p:nvSpPr>
        <p:spPr>
          <a:xfrm>
            <a:off x="7648575" y="1028700"/>
            <a:ext cx="4191000" cy="1981200"/>
          </a:xfrm>
          <a:custGeom>
            <a:avLst/>
            <a:gdLst/>
            <a:ahLst/>
            <a:cxnLst/>
            <a:pathLst>
              <a:path w="440" h="208">
                <a:moveTo>
                  <a:pt x="3" y="208"/>
                </a:moveTo>
                <a:cubicBezTo>
                  <a:pt x="1" y="208"/>
                  <a:pt x="0" y="207"/>
                  <a:pt x="0" y="20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08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7839075" y="1200150"/>
            <a:ext cx="3781425" cy="352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基线的三个事实</a:t>
            </a:r>
            <a:endParaRPr 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7839075" y="1666875"/>
            <a:ext cx="571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sz="9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endParaRPr sz="9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7972425" y="1666875"/>
            <a:ext cx="364807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纯编码器架构，彻底移除了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U-Net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解码器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7839075" y="1962150"/>
            <a:ext cx="571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sz="9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endParaRPr sz="9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3" name="文本框 362" descr="{&quot;isTemplate&quot;:true,&quot;type&quot;:&quot;text&quot;}"/>
          <p:cNvSpPr txBox="1"/>
          <p:nvPr/>
        </p:nvSpPr>
        <p:spPr>
          <a:xfrm>
            <a:off x="7972425" y="1962150"/>
            <a:ext cx="364807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仅在最后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K = 3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Block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内引入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Query</a:t>
            </a:r>
            <a:endParaRPr lang="en-US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7839075" y="2257425"/>
            <a:ext cx="571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sz="9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endParaRPr sz="9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5" name="文本框 364" descr="{&quot;isTemplate&quot;:true,&quot;type&quot;:&quot;text&quot;}"/>
          <p:cNvSpPr txBox="1"/>
          <p:nvPr/>
        </p:nvSpPr>
        <p:spPr>
          <a:xfrm>
            <a:off x="7972425" y="2257425"/>
            <a:ext cx="364807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Query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由随机初始化得到，无类别语义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6" name="任意多边形 365"/>
          <p:cNvSpPr/>
          <p:nvPr/>
        </p:nvSpPr>
        <p:spPr>
          <a:xfrm>
            <a:off x="7839075" y="2552700"/>
            <a:ext cx="3781425" cy="352425"/>
          </a:xfrm>
          <a:custGeom>
            <a:avLst/>
            <a:gdLst/>
            <a:ahLst/>
            <a:cxnLst/>
            <a:pathLst>
              <a:path w="397" h="37">
                <a:moveTo>
                  <a:pt x="0" y="0"/>
                </a:moveTo>
                <a:lnTo>
                  <a:pt x="397" y="0"/>
                </a:lnTo>
                <a:lnTo>
                  <a:pt x="397" y="1"/>
                </a:lnTo>
                <a:lnTo>
                  <a:pt x="0" y="1"/>
                </a:lnTo>
                <a:close/>
              </a:path>
            </a:pathLst>
          </a:custGeom>
          <a:solidFill>
            <a:srgbClr val="C6D7EE"/>
          </a:solidFill>
        </p:spPr>
        <p:txBody>
          <a:bodyPr/>
          <a:p/>
        </p:txBody>
      </p:sp>
      <p:sp>
        <p:nvSpPr>
          <p:cNvPr id="367" name="文本框 366" descr="{&quot;isTemplate&quot;:true,&quot;type&quot;:&quot;text&quot;}"/>
          <p:cNvSpPr txBox="1"/>
          <p:nvPr/>
        </p:nvSpPr>
        <p:spPr>
          <a:xfrm>
            <a:off x="7839075" y="2657475"/>
            <a:ext cx="3781425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纯视觉驱动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零解剖先验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" name="圆角矩形 367"/>
          <p:cNvSpPr/>
          <p:nvPr/>
        </p:nvSpPr>
        <p:spPr>
          <a:xfrm>
            <a:off x="7620000" y="3181350"/>
            <a:ext cx="4191000" cy="177165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7810500" y="3352800"/>
            <a:ext cx="38100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为什么这会伤到小器官</a:t>
            </a:r>
            <a:endParaRPr lang="zh-CN" sz="15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7810500" y="3771900"/>
            <a:ext cx="3810000" cy="914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结构极简换来效率，但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Query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的起点对解剖位置一无所知。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在腹部切片里，胆囊像素占比极低、边界与肝实质相邻，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只能靠数据量硬扛；当大器官占据主导梯度时，它很难被优先选中。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1" name="圆角矩形 370"/>
          <p:cNvSpPr/>
          <p:nvPr/>
        </p:nvSpPr>
        <p:spPr>
          <a:xfrm>
            <a:off x="7620000" y="5124450"/>
            <a:ext cx="4191000" cy="971550"/>
          </a:xfrm>
          <a:prstGeom prst="roundRect">
            <a:avLst>
              <a:gd name="adj" fmla="val 2941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7810500" y="5276850"/>
            <a:ext cx="38100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13">
                <a:solidFill>
                  <a:srgbClr val="9DB8E0"/>
                </a:solidFill>
                <a:latin typeface="微软雅黑" panose="020B0503020204020204" charset="-122"/>
                <a:ea typeface="微软雅黑" panose="020B0503020204020204" charset="-122"/>
              </a:rPr>
              <a:t>判断</a:t>
            </a:r>
            <a:endParaRPr lang="zh-CN" sz="900" spc="113">
              <a:solidFill>
                <a:srgbClr val="9DB8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3" name="文本框 372" descr="{&quot;isTemplate&quot;:true,&quot;type&quot;:&quot;text&quot;}"/>
          <p:cNvSpPr txBox="1"/>
          <p:nvPr/>
        </p:nvSpPr>
        <p:spPr>
          <a:xfrm>
            <a:off x="7810500" y="5476875"/>
            <a:ext cx="3810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瓶颈不在表征能力，而在</a:t>
            </a: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Query </a:t>
            </a: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缺少解剖锚点。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4" name="文本框 373" descr="{&quot;isTemplate&quot;:true,&quot;type&quot;:&quot;text&quot;}"/>
          <p:cNvSpPr txBox="1"/>
          <p:nvPr/>
        </p:nvSpPr>
        <p:spPr>
          <a:xfrm>
            <a:off x="381000" y="6334125"/>
            <a:ext cx="1390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ASEE · 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解剖语义增强编码</a:t>
            </a:r>
            <a:endParaRPr lang="zh-CN" sz="9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11315700" y="6324600"/>
            <a:ext cx="180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11496675" y="6324600"/>
            <a:ext cx="3143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/ 14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7" name="" descr="&lt;Slide style={{ width: 1280, height: 720, padding: 0, background: '#FFFFFF' }}&gt;&#13;&#10;    &lt;Box style={{ position: 'relative', width: 1280, height: 720 }}&gt;&#13;&#10;&#13;&#10;        &lt;Box style={{ position: 'absolute', left: 0, top: 0, width: 1280, height: 8, background: '#1E4FA8' }} /&gt;&#13;&#10;&#13;&#10;        {/* 页眉 */}&#13;&#10;        &lt;Box style={{ position: 'absolute', left: 40, top: 22, width: 1200, height: 60, flexDirection: 'row', alignItems: 'center' }}&gt;&#13;&#10;            &lt;Box&gt;&#13;&#10;                &lt;Text style={{ fontSize: 12, color: '#3D7BD9', letterSpacing: 1.5 }}&gt;01 / 研究背景与动机&lt;/Text&gt;&#13;&#10;                &lt;Box style={{ height: 4 }} /&gt;&#13;&#10;                &lt;Text style={{ fontSize: 32, fontWeight: 'bold', color: '#0E3F8C', letterSpacing: 0.5 }}&gt;证据：Dice 的失衡集中在两个小器官&lt;/Text&gt;&#13;&#10;            &lt;/Box&gt;&#13;&#10;            &lt;Box style={{ flex: 1 }} /&gt;&#13;&#10;            &lt;Box style={{ background: '#E8EFF8', borderRadius: 3, padding: '6px 14px' }}&gt;&#13;&#10;                &lt;Text style={{ fontSize: 12, color: '#1E4FA8', fontWeight: 'bold', letterSpacing: 1 }}&gt;Synapse · EoSeg 实验结果&lt;/Text&gt;&#13;&#10;            &lt;/Box&gt;&#13;&#10;        &lt;/Box&gt;&#13;&#10;        &lt;Box style={{ position: 'absolute', left: 40, top: 92, width: 1200, height: 1, background: '#D6DCE5' }} /&gt;&#13;&#10;&#13;&#10;        {/* 引导问题 */}&#13;&#10;        &lt;Box style={{ position: 'absolute', left: 40, top: 106, width: 1200, height: 54, background: '#F0F5FC', borderLeft: '3px solid #1E4FA8', padding: '0 18px', justifyContent: 'center' }}&gt;&#13;&#10;            &lt;Text style={{ fontSize: 16, color: '#1A2230', lineHeight: 1.5 }}&gt;&#13;&#10;                同一个模型、同一套训练配置，为什么类别间能拉开近 &lt;span style={{ color: '#D9534F', fontWeight: 'bold' }}&gt;20 个 Dice 点&lt;/span&gt;？&#13;&#10;            &lt;/Text&gt;&#13;&#10;        &lt;/Box&gt;&#13;&#10;&#13;&#10;        {/* 三个数字 */}&#13;&#10;        &lt;Box style={{ position: 'absolute', left: 40, top: 178, width: 1200, height: 132, flexDirection: 'row' }}&gt;&#13;&#10;            &lt;Box style={{ flex: 1, borderTop: '2px solid #1E4FA8', paddingTop: 14, paddingRight: 24 }}&gt;&#13;&#10;                &lt;Box style={{ flexDirection: 'row', alignItems: 'baseline', gap: 6 }}&gt;&#13;&#10;                    &lt;Text style={{ fontSize: 68, fontWeight: 'bold', color: '#0E3F8C', lineHeight: 1, letterSpacing: -1 }}&gt;94.87&lt;/Text&gt;&#13;&#10;                    &lt;Text style={{ fontSize: 20, color: '#4A5568' }}&gt;%&lt;/Text&gt;&#13;&#10;                &lt;/Box&gt;&#13;&#10;                &lt;Box style={{ height: 6 }} /&gt;&#13;&#10;                &lt;Text style={{ fontSize: 14, color: '#4A5568' }}&gt;肝脏 Liver&lt;/Text&gt;&#13;&#10;            &lt;/Box&gt;&#13;&#10;            &lt;Box style={{ flex: 1, borderTop: '2px solid #D9534F', paddingTop: 14, paddingRight: 24 }}&gt;&#13;&#10;                &lt;Box style={{ flexDirection: 'row', alignItems: 'baseline', gap: 6 }}&gt;&#13;&#10;                    &lt;Text style={{ fontSize: 68, fontWeight: 'bold', color: '#D9534F', lineHeight: 1, letterSpacing: -1 }}&gt;74.99&lt;/Text&gt;&#13;&#10;                    &lt;Text style={{ fontSize: 20, color: '#4A5568' }}&gt;%&lt;/Text&gt;&#13;&#10;                &lt;/Box&gt;&#13;&#10;                &lt;Box style={{ height: 6 }} /&gt;&#13;&#10;                &lt;Text style={{ fontSize: 14, color: '#4A5568' }}&gt;胆囊 Gallbladder · 垫底&lt;/Text&gt;&#13;&#10;            &lt;/Box&gt;&#13;&#10;            &lt;Box style={{ flex: 1, borderTop: '2px solid #D9534F', paddingTop: 14, paddingRight: 24 }}&gt;&#13;&#10;                &lt;Box style={{ flexDirection: 'row', alignItems: 'baseline', gap: 6 }}&gt;&#13;&#10;                    &lt;Text style={{ fontSize: 68, fontWeight: 'bold', color: '#D9534F', lineHeight: 1, letterSpacing: -1 }}&gt;75.89&lt;/Text&gt;&#13;&#10;                    &lt;Text style={{ fontSize: 20, color: '#4A5568' }}&gt;%&lt;/Text&gt;&#13;&#10;                &lt;/Box&gt;&#13;&#10;                &lt;Box style={{ height: 6 }} /&gt;&#13;&#10;                &lt;Text style={{ fontSize: 14, color: '#4A5568' }}&gt;胰腺 Pancreas · 次低&lt;/Text&gt;&#13;&#10;            &lt;/Box&gt;&#13;&#10;        &lt;/Box&gt;&#13;&#10;&#13;&#10;        {/* 条形对比 */}&#13;&#10;        &lt;Box style={{ position: 'absolute', left: 40, top: 340, width: 1200 }}&gt;&#13;&#10;            &lt;Box style={{ flexDirection: 'row', alignItems: 'center', gap: 14 }}&gt;&#13;&#10;                &lt;Text style={{ width: 64, fontSize: 14, color: '#1A2230', fontWeight: 'bold' }}&gt;肝脏&lt;/Text&gt;&#13;&#10;                &lt;Box style={{ width: 900, height: 24, background: '#F0F5FC', borderRadius: 2 }}&gt;&#13;&#10;                    &lt;Box style={{ width: 854, height: 24, background: '#1E4FA8', borderRadius: 2 }} /&gt;&#13;&#10;                &lt;/Box&gt;&#13;&#10;                &lt;Text style={{ fontSize: 13, color: '#4A5568' }}&gt;94.87&lt;/Text&gt;&#13;&#10;            &lt;/Box&gt;&#13;&#10;            &lt;Box style={{ height: 20 }} /&gt;&#13;&#10;            &lt;Box style={{ flexDirection: 'row', alignItems: 'center', gap: 14 }}&gt;&#13;&#10;                &lt;Text style={{ width: 64, fontSize: 14, color: '#1A2230', fontWeight: 'bold' }}&gt;胆囊&lt;/Text&gt;&#13;&#10;                &lt;Box style={{ width: 900, height: 24, background: '#F0F5FC', borderRadius: 2 }}&gt;&#13;&#10;                    &lt;Box style={{ width: 675, height: 24, background: '#9CB6DC', borderRadius: 2 }} /&gt;&#13;&#10;                &lt;/Box&gt;&#13;&#10;                &lt;Text style={{ fontSize: 13, color: '#4A5568' }}&gt;−19.88&lt;/Text&gt;&#13;&#10;            &lt;/Box&gt;&#13;&#10;            &lt;Box style={{ height: 20 }} /&gt;&#13;&#10;            &lt;Box style={{ flexDirection: 'row', alignItems: 'center', gap: 14 }}&gt;&#13;&#10;                &lt;Text style={{ width: 64, fontSize: 14, color: '#1A2230', fontWeight: 'bold' }}&gt;胰腺&lt;/Text&gt;&#13;&#10;                &lt;Box style={{ width: 900, height: 24, background: '#F0F5FC', borderRadius: 2 }}&gt;&#13;&#10;                    &lt;Box style={{ width: 683, height: 24, background: '#9CB6DC', borderRadius: 2 }} /&gt;&#13;&#10;                &lt;/Box&gt;&#13;&#10;                &lt;Text style={{ fontSize: 13, color: '#4A5568' }}&gt;−18.98&lt;/Text&gt;&#13;&#10;            &lt;/Box&gt;&#13;&#10;&#13;&#10;            &lt;Box style={{ height: 10 }} /&gt;&#13;&#10;            &lt;Box style={{ flexDirection: 'row', alignItems: 'center', gap: 14 }}&gt;&#13;&#10;                &lt;Box style={{ width: 64 }} /&gt;&#13;&#10;                &lt;Box style={{ width: 900, flexDirection: 'row' }}&gt;&#13;&#10;                    &lt;Text style={{ width: 225, fontSize: 11, color: '#8B97A8' }}&gt;0&lt;/Text&gt;&#13;&#10;                    &lt;Text style={{ width: 225, fontSize: 11, color: '#8B97A8' }}&gt;25&lt;/Text&gt;&#13;&#10;                    &lt;Text style={{ width: 225, fontSize: 11, color: '#8B97A8' }}&gt;50&lt;/Text&gt;&#13;&#10;                    &lt;Text style={{ width: 225, fontSize: 11, color: '#8B97A8' }}&gt;75&lt;/Text&gt;&#13;&#10;                    &lt;Text style={{ width: 111, fontSize: 11, color: '#8B97A8' }}&gt;100&lt;/Text&gt;&#13;&#10;                &lt;/Box&gt;&#13;&#10;            &lt;/Box&gt;&#13;&#10;        &lt;/Box&gt;&#13;&#10;&#13;&#10;        {/* 洞察 */}&#13;&#10;        &lt;Box style={{ position: 'absolute', left: 40, top: 496, width: 1200, height: 146, flexDirection: 'row', alignItems: 'stretch', gap: 20 }}&gt;&#13;&#10;            &lt;Box style={{ flex: 1, background: '#F7F9FC', border: '1px solid #D6DCE5', borderTop: '3px solid #1E4FA8', borderRadius: 3, padding: '14px 18px' }}&gt;&#13;&#10;                &lt;Text style={{ fontSize: 12, color: '#1E4FA8', fontWeight: 'bold', letterSpacing: 1 }}&gt;所以呢&lt;/Text&gt;&#13;&#10;                &lt;Box style={{ height: 6 }} /&gt;&#13;&#10;                &lt;Text style={{ fontSize: 14, color: '#1A2230', lineHeight: 1.8 }}&gt;&#13;&#10;                    20 点的落差说明瓶颈不是整体表征能力，而是弱势类别在类别竞争中持续被大器官压制；&#13;&#10;                    继续堆数据只会同时抬高所有类别，不会自动补上这一格。&#13;&#10;                &lt;/Text&gt;&#13;&#10;            &lt;/Box&gt;&#13;&#10;            &lt;Box style={{ flex: 1, background: '#F7F9FC', border: '1px solid #D6DCE5', borderTop: '3px solid #9CB6DC', borderRadius: 3, padding: '14px 18px' }}&gt;&#13;&#10;                &lt;Text style={{ fontSize: 12, color: '#1E4FA8', fontWeight: 'bold', letterSpacing: 1 }}&gt;这决定了改进方向&lt;/Text&gt;&#13;&#10;                &lt;Box style={{ height: 6 }} /&gt;&#13;&#10;                &lt;Text style={{ fontSize: 14, color: '#1A2230', lineHeight: 1.8 }}&gt;&#13;&#10;                    需要一种能显式告诉模型「小器官在哪、和谁相邻」的解剖先验，&#13;&#10;                    而不是继续加参数。&#13;&#10;                &lt;/Text&gt;&#13;&#10;            &lt;/Box&gt;&#13;&#10;        &lt;/Box&gt;&#13;&#10;&#13;&#10;        {/* 页脚 */}&#13;&#10;        &lt;Box style={{ position: 'absolute', left: 40, top: 664, width: 1200, flexDirection: 'row', alignItems: 'center' }}&gt;&#13;&#10;            &lt;Text style={{ fontSize: 13, color: '#8B97A8' }}&gt;数据来源：规划文档引用的 EoSeg 在 Synapse 上的类别 Dice&lt;/Text&gt;&#13;&#10;            &lt;Box style={{ flex: 1 }} /&gt;&#13;&#10;            &lt;Text style={{ fontSize: 15, fontWeight: 'bold', color: '#1E4FA8' }}&gt;06&lt;/Text&gt;&#13;&#10;            &lt;Text style={{ fontSize: 15, color: '#8B97A8' }}&gt; / 14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矩形 37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79" name="矩形 37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381000" y="219075"/>
            <a:ext cx="51149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01 / </a:t>
            </a:r>
            <a:r>
              <a:rPr lang="zh-CN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研究背景与动机</a:t>
            </a:r>
            <a:endParaRPr lang="zh-CN" sz="900" spc="113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1" name="文本框 380" descr="{&quot;isTemplate&quot;:true,&quot;type&quot;:&quot;text&quot;}"/>
          <p:cNvSpPr txBox="1"/>
          <p:nvPr/>
        </p:nvSpPr>
        <p:spPr>
          <a:xfrm>
            <a:off x="381000" y="400050"/>
            <a:ext cx="511492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证据：</a:t>
            </a:r>
            <a:r>
              <a:rPr lang="en-US" sz="2400" b="1" spc="38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Dice </a:t>
            </a:r>
            <a:r>
              <a:rPr lang="zh-CN" sz="2400" b="1" spc="38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的失衡集中在两个小器官</a:t>
            </a:r>
            <a:endParaRPr lang="zh-CN" sz="2400" b="1" spc="38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2" name="圆角矩形 381"/>
          <p:cNvSpPr/>
          <p:nvPr/>
        </p:nvSpPr>
        <p:spPr>
          <a:xfrm>
            <a:off x="9915525" y="371475"/>
            <a:ext cx="1895475" cy="257175"/>
          </a:xfrm>
          <a:prstGeom prst="roundRect">
            <a:avLst>
              <a:gd name="adj" fmla="val 11111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10048875" y="428625"/>
            <a:ext cx="1628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Synapse · EoSeg </a:t>
            </a: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实验结果</a:t>
            </a:r>
            <a:endParaRPr lang="zh-CN" sz="900" b="1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4" name="矩形 383"/>
          <p:cNvSpPr/>
          <p:nvPr/>
        </p:nvSpPr>
        <p:spPr>
          <a:xfrm>
            <a:off x="381000" y="876300"/>
            <a:ext cx="11430000" cy="9525"/>
          </a:xfrm>
          <a:prstGeom prst="rect">
            <a:avLst/>
          </a:prstGeom>
          <a:solidFill>
            <a:srgbClr val="D6DCE5"/>
          </a:solidFill>
        </p:spPr>
        <p:txBody>
          <a:bodyPr/>
          <a:p/>
        </p:txBody>
      </p:sp>
      <p:sp>
        <p:nvSpPr>
          <p:cNvPr id="385" name="矩形 384"/>
          <p:cNvSpPr/>
          <p:nvPr/>
        </p:nvSpPr>
        <p:spPr>
          <a:xfrm>
            <a:off x="409575" y="1009650"/>
            <a:ext cx="11401425" cy="514350"/>
          </a:xfrm>
          <a:prstGeom prst="rect">
            <a:avLst/>
          </a:prstGeom>
          <a:solidFill>
            <a:srgbClr val="F0F5FC"/>
          </a:solidFill>
        </p:spPr>
        <p:txBody>
          <a:bodyPr/>
          <a:p/>
        </p:txBody>
      </p:sp>
      <p:sp>
        <p:nvSpPr>
          <p:cNvPr id="386" name="任意多边形 385"/>
          <p:cNvSpPr/>
          <p:nvPr/>
        </p:nvSpPr>
        <p:spPr>
          <a:xfrm>
            <a:off x="381000" y="1009650"/>
            <a:ext cx="11430000" cy="514350"/>
          </a:xfrm>
          <a:custGeom>
            <a:avLst/>
            <a:gdLst/>
            <a:ahLst/>
            <a:cxnLst/>
            <a:pathLst>
              <a:path w="1200" h="54">
                <a:moveTo>
                  <a:pt x="0" y="0"/>
                </a:moveTo>
                <a:lnTo>
                  <a:pt x="3" y="0"/>
                </a:lnTo>
                <a:lnTo>
                  <a:pt x="3" y="54"/>
                </a:lnTo>
                <a:lnTo>
                  <a:pt x="0" y="54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387" name="文本框 386" descr="{&quot;isTemplate&quot;:true,&quot;type&quot;:&quot;text&quot;}"/>
          <p:cNvSpPr txBox="1"/>
          <p:nvPr/>
        </p:nvSpPr>
        <p:spPr>
          <a:xfrm>
            <a:off x="581025" y="1133475"/>
            <a:ext cx="110585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同一个模型、同一套训练配置，为什么类别间能拉开近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20 </a:t>
            </a:r>
            <a:r>
              <a:rPr lang="zh-CN" sz="120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sz="120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 Dice </a:t>
            </a:r>
            <a:r>
              <a:rPr lang="zh-CN" sz="120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点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8" name="任意多边形 387"/>
          <p:cNvSpPr/>
          <p:nvPr/>
        </p:nvSpPr>
        <p:spPr>
          <a:xfrm>
            <a:off x="381000" y="1695450"/>
            <a:ext cx="3810000" cy="1276350"/>
          </a:xfrm>
          <a:custGeom>
            <a:avLst/>
            <a:gdLst/>
            <a:ahLst/>
            <a:cxnLst/>
            <a:pathLst>
              <a:path w="400" h="134">
                <a:moveTo>
                  <a:pt x="0" y="0"/>
                </a:moveTo>
                <a:lnTo>
                  <a:pt x="400" y="0"/>
                </a:lnTo>
                <a:lnTo>
                  <a:pt x="400" y="2"/>
                </a:lnTo>
                <a:lnTo>
                  <a:pt x="0" y="2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389" name="文本框 388" descr="{&quot;isTemplate&quot;:true,&quot;type&quot;:&quot;text&quot;}"/>
          <p:cNvSpPr txBox="1"/>
          <p:nvPr/>
        </p:nvSpPr>
        <p:spPr>
          <a:xfrm>
            <a:off x="381000" y="1847850"/>
            <a:ext cx="1743075" cy="781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 spc="-75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94.87</a:t>
            </a:r>
            <a:endParaRPr lang="en-US" sz="5100" b="1" spc="-75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0" name="文本框 389" descr="{&quot;isTemplate&quot;:true,&quot;type&quot;:&quot;text&quot;}"/>
          <p:cNvSpPr txBox="1"/>
          <p:nvPr/>
        </p:nvSpPr>
        <p:spPr>
          <a:xfrm>
            <a:off x="2181225" y="1847850"/>
            <a:ext cx="171450" cy="781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endParaRPr lang="en-US" sz="15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1" name="文本框 390" descr="{&quot;isTemplate&quot;:true,&quot;type&quot;:&quot;text&quot;}"/>
          <p:cNvSpPr txBox="1"/>
          <p:nvPr/>
        </p:nvSpPr>
        <p:spPr>
          <a:xfrm>
            <a:off x="381000" y="2686050"/>
            <a:ext cx="3581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肝脏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Liver</a:t>
            </a:r>
            <a:endParaRPr lang="en-US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2" name="任意多边形 391"/>
          <p:cNvSpPr/>
          <p:nvPr/>
        </p:nvSpPr>
        <p:spPr>
          <a:xfrm>
            <a:off x="4191000" y="1695450"/>
            <a:ext cx="3810000" cy="1276350"/>
          </a:xfrm>
          <a:custGeom>
            <a:avLst/>
            <a:gdLst/>
            <a:ahLst/>
            <a:cxnLst/>
            <a:pathLst>
              <a:path w="400" h="134">
                <a:moveTo>
                  <a:pt x="0" y="0"/>
                </a:moveTo>
                <a:lnTo>
                  <a:pt x="400" y="0"/>
                </a:lnTo>
                <a:lnTo>
                  <a:pt x="400" y="2"/>
                </a:lnTo>
                <a:lnTo>
                  <a:pt x="0" y="2"/>
                </a:lnTo>
                <a:close/>
              </a:path>
            </a:pathLst>
          </a:custGeom>
          <a:solidFill>
            <a:srgbClr val="D9534F"/>
          </a:solidFill>
        </p:spPr>
        <p:txBody>
          <a:bodyPr/>
          <a:p/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4191000" y="1847850"/>
            <a:ext cx="1743075" cy="781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 spc="-75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74.99</a:t>
            </a:r>
            <a:endParaRPr lang="en-US" sz="5100" b="1" spc="-75">
              <a:solidFill>
                <a:srgbClr val="D953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5991225" y="1847850"/>
            <a:ext cx="171450" cy="781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endParaRPr lang="en-US" sz="15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5" name="文本框 394" descr="{&quot;isTemplate&quot;:true,&quot;type&quot;:&quot;text&quot;}"/>
          <p:cNvSpPr txBox="1"/>
          <p:nvPr/>
        </p:nvSpPr>
        <p:spPr>
          <a:xfrm>
            <a:off x="4191000" y="2686050"/>
            <a:ext cx="3581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胆囊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Gallbladder ·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垫底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6" name="任意多边形 395"/>
          <p:cNvSpPr/>
          <p:nvPr/>
        </p:nvSpPr>
        <p:spPr>
          <a:xfrm>
            <a:off x="8001000" y="1695450"/>
            <a:ext cx="3810000" cy="1276350"/>
          </a:xfrm>
          <a:custGeom>
            <a:avLst/>
            <a:gdLst/>
            <a:ahLst/>
            <a:cxnLst/>
            <a:pathLst>
              <a:path w="400" h="134">
                <a:moveTo>
                  <a:pt x="0" y="0"/>
                </a:moveTo>
                <a:lnTo>
                  <a:pt x="400" y="0"/>
                </a:lnTo>
                <a:lnTo>
                  <a:pt x="400" y="2"/>
                </a:lnTo>
                <a:lnTo>
                  <a:pt x="0" y="2"/>
                </a:lnTo>
                <a:close/>
              </a:path>
            </a:pathLst>
          </a:custGeom>
          <a:solidFill>
            <a:srgbClr val="D9534F"/>
          </a:solidFill>
        </p:spPr>
        <p:txBody>
          <a:bodyPr/>
          <a:p/>
        </p:txBody>
      </p:sp>
      <p:sp>
        <p:nvSpPr>
          <p:cNvPr id="397" name="文本框 396" descr="{&quot;isTemplate&quot;:true,&quot;type&quot;:&quot;text&quot;}"/>
          <p:cNvSpPr txBox="1"/>
          <p:nvPr/>
        </p:nvSpPr>
        <p:spPr>
          <a:xfrm>
            <a:off x="8001000" y="1847850"/>
            <a:ext cx="1743075" cy="781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 spc="-75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75.89</a:t>
            </a:r>
            <a:endParaRPr lang="en-US" sz="5100" b="1" spc="-75">
              <a:solidFill>
                <a:srgbClr val="D953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8" name="文本框 397" descr="{&quot;isTemplate&quot;:true,&quot;type&quot;:&quot;text&quot;}"/>
          <p:cNvSpPr txBox="1"/>
          <p:nvPr/>
        </p:nvSpPr>
        <p:spPr>
          <a:xfrm>
            <a:off x="9801225" y="1847850"/>
            <a:ext cx="171450" cy="781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endParaRPr lang="en-US" sz="15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9" name="文本框 398" descr="{&quot;isTemplate&quot;:true,&quot;type&quot;:&quot;text&quot;}"/>
          <p:cNvSpPr txBox="1"/>
          <p:nvPr/>
        </p:nvSpPr>
        <p:spPr>
          <a:xfrm>
            <a:off x="8001000" y="2686050"/>
            <a:ext cx="3581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胰腺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Pancreas ·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次低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381000" y="3276600"/>
            <a:ext cx="609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肝脏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1" name="圆角矩形 400"/>
          <p:cNvSpPr/>
          <p:nvPr/>
        </p:nvSpPr>
        <p:spPr>
          <a:xfrm>
            <a:off x="1123950" y="3238500"/>
            <a:ext cx="8572500" cy="228600"/>
          </a:xfrm>
          <a:prstGeom prst="roundRect">
            <a:avLst>
              <a:gd name="adj" fmla="val 8333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402" name="圆角矩形 401"/>
          <p:cNvSpPr/>
          <p:nvPr/>
        </p:nvSpPr>
        <p:spPr>
          <a:xfrm>
            <a:off x="1123950" y="3238500"/>
            <a:ext cx="8134350" cy="228600"/>
          </a:xfrm>
          <a:prstGeom prst="roundRect">
            <a:avLst>
              <a:gd name="adj" fmla="val 8333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403" name="文本框 402" descr="{&quot;isTemplate&quot;:true,&quot;type&quot;:&quot;text&quot;}"/>
          <p:cNvSpPr txBox="1"/>
          <p:nvPr/>
        </p:nvSpPr>
        <p:spPr>
          <a:xfrm>
            <a:off x="9829800" y="3276600"/>
            <a:ext cx="323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94.87</a:t>
            </a:r>
            <a:endParaRPr lang="en-US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4" name="文本框 403" descr="{&quot;isTemplate&quot;:true,&quot;type&quot;:&quot;text&quot;}"/>
          <p:cNvSpPr txBox="1"/>
          <p:nvPr/>
        </p:nvSpPr>
        <p:spPr>
          <a:xfrm>
            <a:off x="381000" y="3695700"/>
            <a:ext cx="609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胆囊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5" name="圆角矩形 404"/>
          <p:cNvSpPr/>
          <p:nvPr/>
        </p:nvSpPr>
        <p:spPr>
          <a:xfrm>
            <a:off x="1123950" y="3657600"/>
            <a:ext cx="8572500" cy="228600"/>
          </a:xfrm>
          <a:prstGeom prst="roundRect">
            <a:avLst>
              <a:gd name="adj" fmla="val 8333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406" name="圆角矩形 405"/>
          <p:cNvSpPr/>
          <p:nvPr/>
        </p:nvSpPr>
        <p:spPr>
          <a:xfrm>
            <a:off x="1123950" y="3657600"/>
            <a:ext cx="6429375" cy="228600"/>
          </a:xfrm>
          <a:prstGeom prst="roundRect">
            <a:avLst>
              <a:gd name="adj" fmla="val 8333"/>
            </a:avLst>
          </a:prstGeom>
          <a:solidFill>
            <a:srgbClr val="9CB6DC"/>
          </a:solidFill>
        </p:spPr>
        <p:txBody>
          <a:bodyPr/>
          <a:p/>
        </p:txBody>
      </p:sp>
      <p:sp>
        <p:nvSpPr>
          <p:cNvPr id="407" name="文本框 406" descr="{&quot;isTemplate&quot;:true,&quot;type&quot;:&quot;text&quot;}"/>
          <p:cNvSpPr txBox="1"/>
          <p:nvPr/>
        </p:nvSpPr>
        <p:spPr>
          <a:xfrm>
            <a:off x="9829800" y="36957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−19.88</a:t>
            </a:r>
            <a:endParaRPr lang="en-US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8" name="文本框 407" descr="{&quot;isTemplate&quot;:true,&quot;type&quot;:&quot;text&quot;}"/>
          <p:cNvSpPr txBox="1"/>
          <p:nvPr/>
        </p:nvSpPr>
        <p:spPr>
          <a:xfrm>
            <a:off x="381000" y="4114800"/>
            <a:ext cx="609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胰腺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9" name="圆角矩形 408"/>
          <p:cNvSpPr/>
          <p:nvPr/>
        </p:nvSpPr>
        <p:spPr>
          <a:xfrm>
            <a:off x="1123950" y="4076700"/>
            <a:ext cx="8572500" cy="228600"/>
          </a:xfrm>
          <a:prstGeom prst="roundRect">
            <a:avLst>
              <a:gd name="adj" fmla="val 8333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410" name="圆角矩形 409"/>
          <p:cNvSpPr/>
          <p:nvPr/>
        </p:nvSpPr>
        <p:spPr>
          <a:xfrm>
            <a:off x="1123950" y="4076700"/>
            <a:ext cx="6505575" cy="228600"/>
          </a:xfrm>
          <a:prstGeom prst="roundRect">
            <a:avLst>
              <a:gd name="adj" fmla="val 8333"/>
            </a:avLst>
          </a:prstGeom>
          <a:solidFill>
            <a:srgbClr val="9CB6DC"/>
          </a:solidFill>
        </p:spPr>
        <p:txBody>
          <a:bodyPr/>
          <a:p/>
        </p:txBody>
      </p:sp>
      <p:sp>
        <p:nvSpPr>
          <p:cNvPr id="411" name="文本框 410" descr="{&quot;isTemplate&quot;:true,&quot;type&quot;:&quot;text&quot;}"/>
          <p:cNvSpPr txBox="1"/>
          <p:nvPr/>
        </p:nvSpPr>
        <p:spPr>
          <a:xfrm>
            <a:off x="9829800" y="41148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−18.98</a:t>
            </a:r>
            <a:endParaRPr lang="en-US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1123950" y="4400550"/>
            <a:ext cx="19050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3" name="文本框 412" descr="{&quot;isTemplate&quot;:true,&quot;type&quot;:&quot;text&quot;}"/>
          <p:cNvSpPr txBox="1"/>
          <p:nvPr/>
        </p:nvSpPr>
        <p:spPr>
          <a:xfrm>
            <a:off x="3028950" y="4400550"/>
            <a:ext cx="19145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25</a:t>
            </a:r>
            <a:endParaRPr lang="en-US"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4" name="文本框 413" descr="{&quot;isTemplate&quot;:true,&quot;type&quot;:&quot;text&quot;}"/>
          <p:cNvSpPr txBox="1"/>
          <p:nvPr/>
        </p:nvSpPr>
        <p:spPr>
          <a:xfrm>
            <a:off x="4943475" y="4400550"/>
            <a:ext cx="19050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endParaRPr lang="en-US"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5" name="文本框 414" descr="{&quot;isTemplate&quot;:true,&quot;type&quot;:&quot;text&quot;}"/>
          <p:cNvSpPr txBox="1"/>
          <p:nvPr/>
        </p:nvSpPr>
        <p:spPr>
          <a:xfrm>
            <a:off x="6848475" y="4400550"/>
            <a:ext cx="19050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75</a:t>
            </a:r>
            <a:endParaRPr lang="en-US"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6" name="文本框 415" descr="{&quot;isTemplate&quot;:true,&quot;type&quot;:&quot;text&quot;}"/>
          <p:cNvSpPr txBox="1"/>
          <p:nvPr/>
        </p:nvSpPr>
        <p:spPr>
          <a:xfrm>
            <a:off x="8753475" y="4400550"/>
            <a:ext cx="9429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endParaRPr lang="en-US"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7" name="圆角矩形 416"/>
          <p:cNvSpPr/>
          <p:nvPr/>
        </p:nvSpPr>
        <p:spPr>
          <a:xfrm>
            <a:off x="381000" y="4752975"/>
            <a:ext cx="5619750" cy="1390650"/>
          </a:xfrm>
          <a:prstGeom prst="roundRect">
            <a:avLst>
              <a:gd name="adj" fmla="val 2055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418" name="任意多边形 417"/>
          <p:cNvSpPr/>
          <p:nvPr/>
        </p:nvSpPr>
        <p:spPr>
          <a:xfrm>
            <a:off x="381000" y="4752975"/>
            <a:ext cx="5619750" cy="1390650"/>
          </a:xfrm>
          <a:custGeom>
            <a:avLst/>
            <a:gdLst/>
            <a:ahLst/>
            <a:cxnLst/>
            <a:pathLst>
              <a:path w="590" h="146">
                <a:moveTo>
                  <a:pt x="587" y="0"/>
                </a:moveTo>
                <a:cubicBezTo>
                  <a:pt x="589" y="0"/>
                  <a:pt x="590" y="1"/>
                  <a:pt x="59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587" y="0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419" name="文本框 418" descr="{&quot;isTemplate&quot;:true,&quot;type&quot;:&quot;text&quot;}"/>
          <p:cNvSpPr txBox="1"/>
          <p:nvPr/>
        </p:nvSpPr>
        <p:spPr>
          <a:xfrm>
            <a:off x="552450" y="4886325"/>
            <a:ext cx="52768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所以呢</a:t>
            </a:r>
            <a:endParaRPr lang="zh-CN" sz="900" b="1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0" name="文本框 419" descr="{&quot;isTemplate&quot;:true,&quot;type&quot;:&quot;text&quot;}"/>
          <p:cNvSpPr txBox="1"/>
          <p:nvPr/>
        </p:nvSpPr>
        <p:spPr>
          <a:xfrm>
            <a:off x="552450" y="5086350"/>
            <a:ext cx="527685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20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点的落差说明瓶颈不是整体表征能力，而是弱势类别在类别竞争中持续被大器官压制；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继续堆数据只会同时抬高所有类别，不会自动补上这一格。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1" name="圆角矩形 420"/>
          <p:cNvSpPr/>
          <p:nvPr/>
        </p:nvSpPr>
        <p:spPr>
          <a:xfrm>
            <a:off x="6191250" y="4752975"/>
            <a:ext cx="5619750" cy="1390650"/>
          </a:xfrm>
          <a:prstGeom prst="roundRect">
            <a:avLst>
              <a:gd name="adj" fmla="val 2055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422" name="任意多边形 421"/>
          <p:cNvSpPr/>
          <p:nvPr/>
        </p:nvSpPr>
        <p:spPr>
          <a:xfrm>
            <a:off x="6191250" y="4752975"/>
            <a:ext cx="5619750" cy="1390650"/>
          </a:xfrm>
          <a:custGeom>
            <a:avLst/>
            <a:gdLst/>
            <a:ahLst/>
            <a:cxnLst/>
            <a:pathLst>
              <a:path w="590" h="146">
                <a:moveTo>
                  <a:pt x="587" y="0"/>
                </a:moveTo>
                <a:cubicBezTo>
                  <a:pt x="589" y="0"/>
                  <a:pt x="590" y="1"/>
                  <a:pt x="59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587" y="0"/>
                </a:lnTo>
                <a:close/>
              </a:path>
            </a:pathLst>
          </a:custGeom>
          <a:solidFill>
            <a:srgbClr val="9CB6DC"/>
          </a:solidFill>
        </p:spPr>
        <p:txBody>
          <a:bodyPr/>
          <a:p/>
        </p:txBody>
      </p:sp>
      <p:sp>
        <p:nvSpPr>
          <p:cNvPr id="423" name="文本框 422" descr="{&quot;isTemplate&quot;:true,&quot;type&quot;:&quot;text&quot;}"/>
          <p:cNvSpPr txBox="1"/>
          <p:nvPr/>
        </p:nvSpPr>
        <p:spPr>
          <a:xfrm>
            <a:off x="6362700" y="4886325"/>
            <a:ext cx="52768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这决定了改进方向</a:t>
            </a:r>
            <a:endParaRPr lang="zh-CN" sz="900" b="1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4" name="文本框 423" descr="{&quot;isTemplate&quot;:true,&quot;type&quot;:&quot;text&quot;}"/>
          <p:cNvSpPr txBox="1"/>
          <p:nvPr/>
        </p:nvSpPr>
        <p:spPr>
          <a:xfrm>
            <a:off x="6362700" y="5086350"/>
            <a:ext cx="52768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需要一种能显式告诉模型「小器官在哪、和谁相邻」的解剖先验，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而不是继续加参数。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5" name="文本框 424" descr="{&quot;isTemplate&quot;:true,&quot;type&quot;:&quot;text&quot;}"/>
          <p:cNvSpPr txBox="1"/>
          <p:nvPr/>
        </p:nvSpPr>
        <p:spPr>
          <a:xfrm>
            <a:off x="381000" y="6334125"/>
            <a:ext cx="3409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数据来源：规划文档引用的</a:t>
            </a: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EoSeg 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Synapse 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上的类别</a:t>
            </a: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Dice</a:t>
            </a:r>
            <a:endParaRPr lang="en-US" sz="9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6" name="文本框 425" descr="{&quot;isTemplate&quot;:true,&quot;type&quot;:&quot;text&quot;}"/>
          <p:cNvSpPr txBox="1"/>
          <p:nvPr/>
        </p:nvSpPr>
        <p:spPr>
          <a:xfrm>
            <a:off x="11315700" y="6324600"/>
            <a:ext cx="180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7" name="文本框 426" descr="{&quot;isTemplate&quot;:true,&quot;type&quot;:&quot;text&quot;}"/>
          <p:cNvSpPr txBox="1"/>
          <p:nvPr/>
        </p:nvSpPr>
        <p:spPr>
          <a:xfrm>
            <a:off x="11496675" y="6324600"/>
            <a:ext cx="3143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/ 14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" descr="&lt;Slide style={{ width: 1280, height: 720, padding: 0, background: '#F7F9FC' }}&gt;&#13;&#10;    &lt;Box style={{ position: 'relative', width: 1280, height: 720 }}&gt;&#13;&#10;&#13;&#10;        &lt;Box style={{ position: 'absolute', left: 0, top: 0, width: 1280, height: 8, background: '#1E4FA8' }} /&gt;&#13;&#10;&#13;&#10;        {/* 巨型章节数字（右侧） */}&#13;&#10;        &lt;Box style={{ position: 'absolute', left: 600, top: 36, width: 640, alignItems: 'flex-end' }}&gt;&#13;&#10;            &lt;Text style={{ fontSize: 260, fontWeight: 'bold', color: '#E1EAF6', lineHeight: 1, letterSpacing: 8 }}&gt;02&lt;/Text&gt;&#13;&#10;        &lt;/Box&gt;&#13;&#10;&#13;&#10;        {/* 标题块 */}&#13;&#10;        &lt;Box style={{ position: 'absolute', left: 80, top: 196, width: 700 }}&gt;&#13;&#10;            &lt;Box style={{ width: 48, height: 4, background: '#3D7BD9' }} /&gt;&#13;&#10;            &lt;Box style={{ height: 16 }} /&gt;&#13;&#10;            &lt;Text style={{ fontSize: 13, color: '#3D7BD9', letterSpacing: 3 }}&gt;CHAPTER 02 · METHOD DESIGN&lt;/Text&gt;&#13;&#10;            &lt;Box style={{ height: 12 }} /&gt;&#13;&#10;            &lt;Text style={{ fontSize: 52, fontWeight: 'bold', color: '#0E3F8C', letterSpacing: 2, lineHeight: 1.2 }}&gt;方法设计：ASEE&lt;/Text&gt;&#13;&#10;            &lt;Box style={{ height: 20 }} /&gt;&#13;&#10;            &lt;Text style={{ fontSize: 16, color: '#4A5568', lineHeight: 1.9 }}&gt;&#13;&#10;                核心思路是把「放射科医生的读片常识」变成可计算的先验：&#13;&#10;                先用文本描述与共现统计建一个知识库，再在 Query 建模之前把它双向注进去。&#13;&#10;            &lt;/Text&gt;&#13;&#10;        &lt;/Box&gt;&#13;&#10;&#13;&#10;        {/* 三步胶囊 */}&#13;&#10;        &lt;Box style={{ position: 'absolute', left: 80, top: 520, width: 1120 }}&gt;&#13;&#10;            &lt;Box style={{ flexDirection: 'row', alignItems: 'center', gap: 0 }}&gt;&#13;&#10;                &lt;Box style={{ flex: 1, background: '#FFFFFF', border: '1px solid #C6D7EE', borderRadius: 22, padding: '14px 20px', alignItems: 'center' }}&gt;&#13;&#10;                    &lt;Text style={{ fontSize: 15, fontWeight: 'bold', color: '#1E4FA8' }}&gt;① 语义描述模板&lt;/Text&gt;&#13;&#10;                &lt;/Box&gt;&#13;&#10;                &lt;Box style={{ width: 44, alignItems: 'center', justifyContent: 'center' }}&gt;&#13;&#10;                    &lt;svg width={30} height={14} viewBox='0 0 30 14'&gt;&#13;&#10;                        &lt;path d='M2 7 L24 7 M19 3 L24 7 L19 11' stroke='#9CB6DC' strokeWidth='1.6' fill='none' /&gt;&#13;&#10;                    &lt;/svg&gt;&#13;&#10;                &lt;/Box&gt;&#13;&#10;                &lt;Box style={{ flex: 1, background: '#FFFFFF', border: '1px solid #C6D7EE', borderRadius: 22, padding: '14px 20px', alignItems: 'center' }}&gt;&#13;&#10;                    &lt;Text style={{ fontSize: 15, fontWeight: 'bold', color: '#1E4FA8' }}&gt;② 条件概率编码&lt;/Text&gt;&#13;&#10;                &lt;/Box&gt;&#13;&#10;                &lt;Box style={{ width: 44, alignItems: 'center', justifyContent: 'center' }}&gt;&#13;&#10;                    &lt;svg width={30} height={14} viewBox='0 0 30 14'&gt;&#13;&#10;                        &lt;path d='M2 7 L24 7 M19 3 L24 7 L19 11' stroke='#9CB6DC' strokeWidth='1.6' fill='none' /&gt;&#13;&#10;                    &lt;/svg&gt;&#13;&#10;                &lt;/Box&gt;&#13;&#10;                &lt;Box style={{ flex: 1, background: '#E8EFF8', border: '1px solid #1E4FA8', borderRadius: 22, padding: '14px 20px', alignItems: 'center' }}&gt;&#13;&#10;                    &lt;Text style={{ fontSize: 15, fontWeight: 'bold', color: '#0E3F8C' }}&gt;③ 双向注入 Query&lt;/Text&gt;&#13;&#10;                &lt;/Box&gt;&#13;&#10;            &lt;/Box&gt;&#13;&#10;            &lt;Box style={{ height: 22 }} /&gt;&#13;&#10;            &lt;Box style={{ flexDirection: 'row', alignItems: 'center', gap: 12 }}&gt;&#13;&#10;                &lt;Box style={{ width: 3, height: 14, background: '#D6DCE5' }} /&gt;&#13;&#10;                &lt;Text style={{ fontSize: 13, color: '#8B97A8', lineHeight: 1.6 }}&gt;&#13;&#10;                    三步全部发生在前向传播的入口处，EoSeg 的主干 Block、融合层与预测头均不改动。&#13;&#10;                &lt;/Text&gt;&#13;&#10;            &lt;/Box&gt;&#13;&#10;        &lt;/Box&gt;&#13;&#10;&#13;&#10;        {/* 页脚 */}&#13;&#10;        &lt;Box style={{ position: 'absolute', left: 40, top: 664, width: 1200, flexDirection: 'row', alignItems: 'center' }}&gt;&#13;&#10;            &lt;Text style={{ fontSize: 13, color: '#8B97A8' }}&gt;ASEE · 解剖语义增强编码&lt;/Text&gt;&#13;&#10;            &lt;Box style={{ flex: 1 }} /&gt;&#13;&#10;            &lt;Text style={{ fontSize: 15, fontWeight: 'bold', color: '#1E4FA8' }}&gt;07&lt;/Text&gt;&#13;&#10;            &lt;Text style={{ fontSize: 15, color: '#8B97A8' }}&gt; / 14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矩形 4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430" name="矩形 42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431" name="文本框 430" descr="{&quot;isTemplate&quot;:true,&quot;type&quot;:&quot;text&quot;}"/>
          <p:cNvSpPr txBox="1"/>
          <p:nvPr/>
        </p:nvSpPr>
        <p:spPr>
          <a:xfrm>
            <a:off x="8601075" y="342900"/>
            <a:ext cx="3209925" cy="2971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 spc="600">
                <a:solidFill>
                  <a:srgbClr val="E1EAF6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9500" b="1" spc="600">
              <a:solidFill>
                <a:srgbClr val="E1EA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2" name="矩形 431"/>
          <p:cNvSpPr/>
          <p:nvPr/>
        </p:nvSpPr>
        <p:spPr>
          <a:xfrm>
            <a:off x="762000" y="1866900"/>
            <a:ext cx="457200" cy="3810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433" name="文本框 432" descr="{&quot;isTemplate&quot;:true,&quot;type&quot;:&quot;text&quot;}"/>
          <p:cNvSpPr txBox="1"/>
          <p:nvPr/>
        </p:nvSpPr>
        <p:spPr>
          <a:xfrm>
            <a:off x="762000" y="2057400"/>
            <a:ext cx="6667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CHAPTER 02 · METHOD DESIGN</a:t>
            </a:r>
            <a:endParaRPr lang="en-US" sz="975" spc="225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4" name="文本框 433" descr="{&quot;isTemplate&quot;:true,&quot;type&quot;:&quot;text&quot;}"/>
          <p:cNvSpPr txBox="1"/>
          <p:nvPr/>
        </p:nvSpPr>
        <p:spPr>
          <a:xfrm>
            <a:off x="762000" y="2324100"/>
            <a:ext cx="6667500" cy="714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 spc="15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方法设计：</a:t>
            </a:r>
            <a:r>
              <a:rPr lang="en-US" sz="3900" b="1" spc="15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ASEE</a:t>
            </a:r>
            <a:endParaRPr lang="en-US" sz="3900" b="1" spc="15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5" name="文本框 434" descr="{&quot;isTemplate&quot;:true,&quot;type&quot;:&quot;text&quot;}"/>
          <p:cNvSpPr txBox="1"/>
          <p:nvPr/>
        </p:nvSpPr>
        <p:spPr>
          <a:xfrm>
            <a:off x="762000" y="3228975"/>
            <a:ext cx="666750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核心思路是把「放射科医生的读片常识」变成可计算的先验：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先用文本描述与共现统计建一个知识库，再在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Query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建模之前把它双向注进去。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6" name="圆角矩形 435"/>
          <p:cNvSpPr/>
          <p:nvPr/>
        </p:nvSpPr>
        <p:spPr>
          <a:xfrm>
            <a:off x="762000" y="4953000"/>
            <a:ext cx="3276600" cy="438150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2700">
            <a:solidFill>
              <a:srgbClr val="C6D7EE"/>
            </a:solidFill>
            <a:prstDash val="solid"/>
          </a:ln>
        </p:spPr>
        <p:txBody>
          <a:bodyPr/>
          <a:p/>
        </p:txBody>
      </p:sp>
      <p:sp>
        <p:nvSpPr>
          <p:cNvPr id="437" name="文本框 436" descr="{&quot;isTemplate&quot;:true,&quot;type&quot;:&quot;text&quot;}"/>
          <p:cNvSpPr txBox="1"/>
          <p:nvPr/>
        </p:nvSpPr>
        <p:spPr>
          <a:xfrm>
            <a:off x="1876425" y="5086350"/>
            <a:ext cx="1047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语义描述模板</a:t>
            </a:r>
            <a:endParaRPr lang="zh-CN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38" name="图片 43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05275" y="5105400"/>
            <a:ext cx="285750" cy="133350"/>
          </a:xfrm>
          <a:prstGeom prst="rect">
            <a:avLst/>
          </a:prstGeom>
        </p:spPr>
      </p:pic>
      <p:sp>
        <p:nvSpPr>
          <p:cNvPr id="439" name="圆角矩形 438"/>
          <p:cNvSpPr/>
          <p:nvPr/>
        </p:nvSpPr>
        <p:spPr>
          <a:xfrm>
            <a:off x="4457700" y="4953000"/>
            <a:ext cx="3276600" cy="438150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2700">
            <a:solidFill>
              <a:srgbClr val="C6D7EE"/>
            </a:solidFill>
            <a:prstDash val="solid"/>
          </a:ln>
        </p:spPr>
        <p:txBody>
          <a:bodyPr/>
          <a:p/>
        </p:txBody>
      </p:sp>
      <p:sp>
        <p:nvSpPr>
          <p:cNvPr id="440" name="文本框 439" descr="{&quot;isTemplate&quot;:true,&quot;type&quot;:&quot;text&quot;}"/>
          <p:cNvSpPr txBox="1"/>
          <p:nvPr/>
        </p:nvSpPr>
        <p:spPr>
          <a:xfrm>
            <a:off x="5572125" y="5086350"/>
            <a:ext cx="1047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条件概率编码</a:t>
            </a:r>
            <a:endParaRPr lang="zh-CN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41" name="图片 4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00975" y="5105400"/>
            <a:ext cx="285750" cy="133350"/>
          </a:xfrm>
          <a:prstGeom prst="rect">
            <a:avLst/>
          </a:prstGeom>
        </p:spPr>
      </p:pic>
      <p:sp>
        <p:nvSpPr>
          <p:cNvPr id="442" name="圆角矩形 441"/>
          <p:cNvSpPr/>
          <p:nvPr/>
        </p:nvSpPr>
        <p:spPr>
          <a:xfrm>
            <a:off x="8153400" y="4953000"/>
            <a:ext cx="3276600" cy="438150"/>
          </a:xfrm>
          <a:prstGeom prst="roundRect">
            <a:avLst>
              <a:gd name="adj" fmla="val 47826"/>
            </a:avLst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443" name="文本框 442" descr="{&quot;isTemplate&quot;:true,&quot;type&quot;:&quot;text&quot;}"/>
          <p:cNvSpPr txBox="1"/>
          <p:nvPr/>
        </p:nvSpPr>
        <p:spPr>
          <a:xfrm>
            <a:off x="9172575" y="5086350"/>
            <a:ext cx="1247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双向注入</a:t>
            </a:r>
            <a:r>
              <a:rPr lang="en-US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Query</a:t>
            </a:r>
            <a:endParaRPr lang="en-US" sz="11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4" name="矩形 443"/>
          <p:cNvSpPr/>
          <p:nvPr/>
        </p:nvSpPr>
        <p:spPr>
          <a:xfrm>
            <a:off x="762000" y="5657850"/>
            <a:ext cx="28575" cy="133350"/>
          </a:xfrm>
          <a:prstGeom prst="rect">
            <a:avLst/>
          </a:prstGeom>
          <a:solidFill>
            <a:srgbClr val="D6DCE5"/>
          </a:solidFill>
        </p:spPr>
        <p:txBody>
          <a:bodyPr/>
          <a:p/>
        </p:txBody>
      </p:sp>
      <p:sp>
        <p:nvSpPr>
          <p:cNvPr id="445" name="文本框 444" descr="{&quot;isTemplate&quot;:true,&quot;type&quot;:&quot;text&quot;}"/>
          <p:cNvSpPr txBox="1"/>
          <p:nvPr/>
        </p:nvSpPr>
        <p:spPr>
          <a:xfrm>
            <a:off x="904875" y="5600700"/>
            <a:ext cx="4724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三步全部发生在前向传播的入口处，</a:t>
            </a: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EoSeg 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的主干</a:t>
            </a: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Block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、融合层与预测头均不改动。</a:t>
            </a:r>
            <a:endParaRPr lang="zh-CN" sz="9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6" name="文本框 445" descr="{&quot;isTemplate&quot;:true,&quot;type&quot;:&quot;text&quot;}"/>
          <p:cNvSpPr txBox="1"/>
          <p:nvPr/>
        </p:nvSpPr>
        <p:spPr>
          <a:xfrm>
            <a:off x="381000" y="6334125"/>
            <a:ext cx="1390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ASEE · 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解剖语义增强编码</a:t>
            </a:r>
            <a:endParaRPr lang="zh-CN" sz="9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7" name="文本框 446" descr="{&quot;isTemplate&quot;:true,&quot;type&quot;:&quot;text&quot;}"/>
          <p:cNvSpPr txBox="1"/>
          <p:nvPr/>
        </p:nvSpPr>
        <p:spPr>
          <a:xfrm>
            <a:off x="11315700" y="6324600"/>
            <a:ext cx="180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8" name="文本框 447" descr="{&quot;isTemplate&quot;:true,&quot;type&quot;:&quot;text&quot;}"/>
          <p:cNvSpPr txBox="1"/>
          <p:nvPr/>
        </p:nvSpPr>
        <p:spPr>
          <a:xfrm>
            <a:off x="11496675" y="6324600"/>
            <a:ext cx="3143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/ 14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9" name="" descr="&lt;Slide style={{ width: 1280, height: 720, padding: 0, background: '#FFFFFF' }}&gt;&#13;&#10;    &lt;Box style={{ position: 'relative', width: 1280, height: 720 }}&gt;&#13;&#10;&#13;&#10;        &lt;Box style={{ position: 'absolute', left: 0, top: 0, width: 1280, height: 8, background: '#1E4FA8' }} /&gt;&#13;&#10;&#13;&#10;        {/* 页眉 */}&#13;&#10;        &lt;Box style={{ position: 'absolute', left: 40, top: 22, width: 1200, height: 60, flexDirection: 'row', alignItems: 'center' }}&gt;&#13;&#10;            &lt;Box&gt;&#13;&#10;                &lt;Text style={{ fontSize: 12, color: '#3D7BD9', letterSpacing: 1.5 }}&gt;02 / 方法设计：ASEE&lt;/Text&gt;&#13;&#10;                &lt;Box style={{ height: 4 }} /&gt;&#13;&#10;                &lt;Text style={{ fontSize: 32, fontWeight: 'bold', color: '#0E3F8C', letterSpacing: 0.5 }}&gt;总体框架：先建知识库，再做双向注入&lt;/Text&gt;&#13;&#10;            &lt;/Box&gt;&#13;&#10;            &lt;Box style={{ flex: 1 }} /&gt;&#13;&#10;            &lt;Box style={{ background: '#E8EFF8', borderRadius: 3, padding: '6px 14px' }}&gt;&#13;&#10;                &lt;Text style={{ fontSize: 12, color: '#1E4FA8', fontWeight: 'bold', letterSpacing: 1 }}&gt;图 2 / ASEE 模块&lt;/Text&gt;&#13;&#10;            &lt;/Box&gt;&#13;&#10;        &lt;/Box&gt;&#13;&#10;        &lt;Box style={{ position: 'absolute', left: 40, top: 92, width: 1200, height: 1, background: '#D6DCE5' }} /&gt;&#13;&#10;&#13;&#10;        {/* 区域一：知识库构建 */}&#13;&#10;        &lt;Box style={{ position: 'absolute', left: 40, top: 104, width: 1200, height: 152, background: '#F0F5FC', borderRadius: 3, padding: '16px 30px' }}&gt;&#13;&#10;            &lt;Text style={{ fontSize: 12, color: '#1E4FA8', fontWeight: 'bold', letterSpacing: 1 }}&gt;① 先验知识库构建 · 离线完成，与训练解耦&lt;/Text&gt;&#13;&#10;            &lt;Box style={{ height: 12 }} /&gt;&#13;&#10;            &lt;Box style={{ flexDirection: 'row', alignItems: 'center', justifyContent: 'center' }}&gt;&#13;&#10;                &lt;Box style={{ width: 320, height: 82, background: '#FFFFFF', border: '1px solid #C6D7EE', borderRadius: 3, padding: '10px 16px', justifyContent: 'center' }}&gt;&#13;&#10;                    &lt;Text style={{ fontSize: 15, fontWeight: 'bold', color: '#1A2230', lineHeight: 1.4 }}&gt;S · 解剖语义嵌入&lt;/Text&gt;&#13;&#10;                    &lt;Text style={{ fontSize: 12, color: '#4A5568', lineHeight: 1.6 }}&gt;BioClinicalBERT 编码 + 线性映射 → C × d&lt;/Text&gt;&#13;&#10;                &lt;/Box&gt;&#13;&#10;                &lt;Box style={{ width: 64, alignItems: 'center', justifyContent: 'center' }}&gt;&#13;&#10;                    &lt;Text style={{ fontSize: 24, color: '#1E4FA8', fontWeight: 'bold' }}&gt;⊕&lt;/Text&gt;&#13;&#10;                &lt;/Box&gt;&#13;&#10;                &lt;Box style={{ width: 320, height: 82, background: '#FFFFFF', border: '1px solid #C6D7EE', borderRadius: 3, padding: '10px 16px', justifyContent: 'center' }}&gt;&#13;&#10;                    &lt;Text style={{ fontSize: 15, fontWeight: 'bold', color: '#1A2230', lineHeight: 1.4 }}&gt;CP · 条件概率嵌入&lt;/Text&gt;&#13;&#10;                    &lt;Text style={{ fontSize: 12, color: '#4A5568', lineHeight: 1.6 }}&gt;共现统计对数比 M 经 MLP 映射 → C × d&lt;/Text&gt;&#13;&#10;                &lt;/Box&gt;&#13;&#10;                &lt;Box style={{ width: 64, alignItems: 'center', justifyContent: 'center' }}&gt;&#13;&#10;                    &lt;Text style={{ fontSize: 22, color: '#1E4FA8', fontWeight: 'bold' }}&gt;=&lt;/Text&gt;&#13;&#10;                &lt;/Box&gt;&#13;&#10;                &lt;Box style={{ width: 320, height: 82, background: '#0E3F8C', borderRadius: 3, padding: '10px 16px', justifyContent: 'center' }}&gt;&#13;&#10;                    &lt;Text style={{ fontSize: 15, fontWeight: 'bold', color: '#FFFFFF', lineHeight: 1.4 }}&gt;E_prior · 先验知识库&lt;/Text&gt;&#13;&#10;                    &lt;Text style={{ fontSize: 12, color: '#C9D8EF', lineHeight: 1.6 }}&gt;唯一被注入到主干的中间表示&lt;/Text&gt;&#13;&#10;                &lt;/Box&gt;&#13;&#10;            &lt;/Box&gt;&#13;&#10;        &lt;/Box&gt;&#13;&#10;&#13;&#10;        {/* 连接箭头 */}&#13;&#10;        &lt;Box style={{ position: 'absolute', left: 40, top: 256, width: 1200, height: 26, alignItems: 'center', justifyContent: 'center' }}&gt;&#13;&#10;            &lt;svg width={26} height={26} viewBox='0 0 26 26'&gt;&#13;&#10;                &lt;path d='M13 2 L13 17 M7 13 L13 20 L19 13' stroke='#1E4FA8' strokeWidth='1.8' fill='none' /&gt;&#13;&#10;            &lt;/svg&gt;&#13;&#10;        &lt;/Box&gt;&#13;&#10;&#13;&#10;        {/* 区域二：双向注入 */}&#13;&#10;        &lt;Box style={{ position: 'absolute', left: 40, top: 282, width: 1200, height: 176 }}&gt;&#13;&#10;            &lt;Box style={{ position: 'absolute', left: 0, top: 0, width: 840, height: 176 }}&gt;&#13;&#10;&#13;&#10;                &lt;Box style={{ height: 72, flexDirection: 'row', alignItems: 'center' }}&gt;&#13;&#10;                    &lt;Box style={{ width: 250, height: 72, background: '#FFFFFF', border: '1px dashed #3D7BD9', borderRadius: 3, padding: '8px 14px', justifyContent: 'center' }}&gt;&#13;&#10;                        &lt;Text style={{ fontSize: 14, fontWeight: 'bold', color: '#1E4FA8', lineHeight: 1.4 }}&gt;T⁽⁰⁾ · Patch Tokens&lt;/Text&gt;&#13;&#10;                        &lt;Text style={{ fontSize: 12, color: '#8B97A8' }}&gt;N_p × d&lt;/Text&gt;&#13;&#10;                    &lt;/Box&gt;&#13;&#10;                    &lt;Box style={{ width: 42, alignItems: 'center', justifyContent: 'center' }}&gt;&#13;&#10;                        &lt;svg width={28} height={14} viewBox='0 0 28 14'&gt;&#13;&#10;                            &lt;path d='M2 7 L22 7 M17 3 L22 7 L17 11' stroke='#9CB6DC' strokeWidth='1.6' fill='none' /&gt;&#13;&#10;                        &lt;/svg&gt;&#13;&#10;                    &lt;/Box&gt;&#13;&#10;                    &lt;Box style={{ width: 300, height: 72, background: '#E8EFF8', border: '1px solid #C6D7EE', borderRadius: 3, padding: '8px 14px', justifyContent: 'center' }}&gt;&#13;&#10;                        &lt;Text style={{ fontSize: 14, fontWeight: 'bold', color: '#0E3F8C', lineHeight: 1.4 }}&gt;Cross-Attention&lt;/Text&gt;&#13;&#10;                        &lt;Text style={{ fontSize: 12, color: '#4A5568' }}&gt;T⁽⁰⁾ 作 Q，E_prior 作 K / V&lt;/Text&gt;&#13;&#10;                    &lt;/Box&gt;&#13;&#10;                    &lt;Box style={{ width: 42, alignItems: 'center', justifyContent: 'center' }}&gt;&#13;&#10;                        &lt;svg width={28} height={14} viewBox='0 0 28 14'&gt;&#13;&#10;                            &lt;path d='M2 7 L22 7 M17 3 L22 7 L17 11' stroke='#9CB6DC' strokeWidth='1.6' fill='none' /&gt;&#13;&#10;                        &lt;/svg&gt;&#13;&#10;                    &lt;/Box&gt;&#13;&#10;                    &lt;Box style={{ width: 206, height: 72, background: '#FFFFFF', border: '1px solid #1E4FA8', borderRadius: 3, padding: '8px 14px', justifyContent: 'center' }}&gt;&#13;&#10;                        &lt;Text style={{ fontSize: 14, fontWeight: 'bold', color: '#1E4FA8', lineHeight: 1.4 }}&gt;T̃⁽⁰⁾ 语义增强图像特征&lt;/Text&gt;&#13;&#10;                        &lt;Text style={{ fontSize: 12, color: '#4A5568' }}&gt;看到「该看哪儿」&lt;/Text&gt;&#13;&#10;                    &lt;/Box&gt;&#13;&#10;                &lt;/Box&gt;&#13;&#10;&#13;&#10;                &lt;Box style={{ height: 32, justifyContent: 'center' }}&gt;&#13;&#10;                    &lt;Text style={{ fontSize: 12, color: '#8B97A8', letterSpacing: 0.5 }}&gt;同一套先验，两条支路各取所需&lt;/Text&gt;&#13;&#10;                &lt;/Box&gt;&#13;&#10;&#13;&#10;                &lt;Box style={{ height: 72, flexDirection: 'row', alignItems: 'center' }}&gt;&#13;&#10;                    &lt;Box style={{ width: 250, height: 72, background: '#FFFFFF', border: '1px dashed #3D7BD9', borderRadius: 3, padding: '8px 14px', justifyContent: 'center' }}&gt;&#13;&#10;                        &lt;Text style={{ fontSize: 14, fontWeight: 'bold', color: '#1E4FA8', lineHeight: 1.4 }}&gt;Q_init · 可学习参数&lt;/Text&gt;&#13;&#10;                        &lt;Text style={{ fontSize: 12, color: '#8B97A8' }}&gt;N_q = 2C，随机初始化&lt;/Text&gt;&#13;&#10;                    &lt;/Box&gt;&#13;&#10;                    &lt;Box style={{ width: 42, alignItems: 'center', justifyContent: 'center' }}&gt;&#13;&#10;                        &lt;svg width={28} height={14} viewBox='0 0 28 14'&gt;&#13;&#10;                            &lt;path d='M2 7 L22 7 M17 3 L22 7 L17 11' stroke='#9CB6DC' strokeWidth='1.6' fill='none' /&gt;&#13;&#10;                        &lt;/svg&gt;&#13;&#10;                    &lt;/Box&gt;&#13;&#10;                    &lt;Box style={{ width: 300, height: 72, background: '#E8EFF8', border: '1px solid #C6D7EE', borderRadius: 3, padding: '8px 14px', justifyContent: 'center' }}&gt;&#13;&#10;                        &lt;Text style={{ fontSize: 14, fontWeight: 'bold', color: '#0E3F8C', lineHeight: 1.4 }}&gt;MLP_proj(E_prior)&lt;/Text&gt;&#13;&#10;                        &lt;Text style={{ fontSize: 12, color: '#4A5568' }}&gt;类别先验映射回 d 维并相加&lt;/Text&gt;&#13;&#10;                    &lt;/Box&gt;&#13;&#10;                    &lt;Box style={{ width: 42, alignItems: 'center', justifyContent: 'center' }}&gt;&#13;&#10;                        &lt;svg width={28} height={14} viewBox='0 0 28 14'&gt;&#13;&#10;                            &lt;path d='M2 7 L22 7 M17 3 L22 7 L17 11' stroke='#9CB6DC' strokeWidth='1.6' fill='none' /&gt;&#13;&#10;                        &lt;/svg&gt;&#13;&#10;                    &lt;/Box&gt;&#13;&#10;                    &lt;Box style={{ width: 206, height: 72, background: '#FFFFFF', border: '1px solid #1E4FA8', borderRadius: 3, padding: '8px 14px', justifyContent: 'center' }}&gt;&#13;&#10;                        &lt;Text style={{ fontSize: 14, fontWeight: 'bold', color: '#1E4FA8', lineHeight: 1.4 }}&gt;Q̃⁽⁰⁾ 解剖指向 Query&lt;/Text&gt;&#13;&#10;                        &lt;Text style={{ fontSize: 12, color: '#4A5568' }}&gt;知道「该找什么」&lt;/Text&gt;&#13;&#10;                    &lt;/Box&gt;&#13;&#10;                &lt;/Box&gt;&#13;&#10;            &lt;/Box&gt;&#13;&#10;&#13;&#10;            {/* 汇合 */}&#13;&#10;            &lt;Box style={{ position: 'absolute', left: 880, top: 0, width: 320, height: 176, justifyContent: 'center' }}&gt;&#13;&#10;                &lt;Box style={{ height: 110, background: '#F7F9FC', border: '1px solid #D6DCE5', borderLeft: '3px solid #1E4FA8', borderRadius: 3, padding: '14px 18px', justifyContent: 'center' }}&gt;&#13;&#10;                    &lt;Text style={{ fontSize: 12, color: '#1E4FA8', fontWeight: 'bold', letterSpacing: 1 }}&gt;汇合后回灌主干&lt;/Text&gt;&#13;&#10;                    &lt;Box style={{ height: 6 }} /&gt;&#13;&#10;                    &lt;Text style={{ fontSize: 14, color: '#1A2230', lineHeight: 1.7 }}&gt;Z⁽⁰⁾ = Concat(Q̃⁽⁰⁾, T̃⁽⁰⁾)&lt;/Text&gt;&#13;&#10;                    &lt;Text style={{ fontSize: 12, color: '#4A5568', lineHeight: 1.7 }}&gt;→ 后 3 层 Block → Fusion → Head&lt;/Text&gt;&#13;&#10;                &lt;/Box&gt;&#13;&#10;            &lt;/Box&gt;&#13;&#10;        &lt;/Box&gt;&#13;&#10;&#13;&#10;        {/* 底部三条 */}&#13;&#10;        &lt;Box style={{ position: 'absolute', left: 40, top: 500, width: 1200, height: 132, flexDirection: 'row', gap: 24 }}&gt;&#13;&#10;            &lt;Box style={{ flex: 1, borderTop: '2px solid #1E4FA8', paddingTop: 12 }}&gt;&#13;&#10;                &lt;Text style={{ fontSize: 22, fontWeight: 'bold', color: '#0E3F8C', lineHeight: 1.2 }}&gt;一次交叉注意力&lt;/Text&gt;&#13;&#10;                &lt;Box style={{ height: 8 }} /&gt;&#13;&#10;                &lt;Text style={{ fontSize: 14, color: '#4A5568', lineHeight: 1.75 }}&gt;&#13;&#10;                    在线只做一次 patch 与先验的交互，E_prior 可离线缓存，训练时随 batch 复用。&#13;&#10;                &lt;/Text&gt;&#13;&#10;            &lt;/Box&gt;&#13;&#10;            &lt;Box style={{ flex: 1, borderTop: '2px solid #3D7BD9', paddingTop: 12 }}&gt;&#13;&#10;                &lt;Text style={{ fontSize: 22, fontWeight: 'bold', color: '#0E3F8C', lineHeight: 1.2 }}&gt;增量参数极小&lt;/Text&gt;&#13;&#10;                &lt;Box style={{ height: 8 }} /&gt;&#13;&#10;                &lt;Text style={{ fontSize: 14, color: '#4A5568', lineHeight: 1.75 }}&gt;&#13;&#10;                    新增一个线性映射、一个轻量 MLP 与一次注意力的投影矩阵，不改动主干权重结构。&#13;&#10;                &lt;/Text&gt;&#13;&#10;            &lt;/Box&gt;&#13;&#10;            &lt;Box style={{ flex: 1, borderTop: '2px solid #9CB6DC', paddingTop: 12 }}&gt;&#13;&#10;                &lt;Text style={{ fontSize: 22, fontWeight: 'bold', color: '#0E3F8C', lineHeight: 1.2 }}&gt;主干零改动&lt;/Text&gt;&#13;&#10;                &lt;Box style={{ height: 8 }} /&gt;&#13;&#10;                &lt;Text style={{ fontSize: 14, color: '#4A5568', lineHeight: 1.75 }}&gt;&#13;&#10;                    后 3 个 Transformer Block、Learnable Block Fusion 与预测头完整沿用原实现。&#13;&#10;                &lt;/Text&gt;&#13;&#10;            &lt;/Box&gt;&#13;&#10;        &lt;/Box&gt;&#13;&#10;&#13;&#10;        {/* 页脚 */}&#13;&#10;        &lt;Box style={{ position: 'absolute', left: 40, top: 664, width: 1200, flexDirection: 'row', alignItems: 'center' }}&gt;&#13;&#10;            &lt;Text style={{ fontSize: 13, color: '#8B97A8' }}&gt;ASEE · 解剖语义增强编码&lt;/Text&gt;&#13;&#10;            &lt;Box style={{ flex: 1 }} /&gt;&#13;&#10;            &lt;Text style={{ fontSize: 15, fontWeight: 'bold', color: '#1E4FA8' }}&gt;08&lt;/Text&gt;&#13;&#10;            &lt;Text style={{ fontSize: 15, color: '#8B97A8' }}&gt; / 14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矩形 4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51" name="矩形 45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381000" y="219075"/>
            <a:ext cx="52673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02 / </a:t>
            </a:r>
            <a:r>
              <a:rPr lang="zh-CN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方法设计：</a:t>
            </a:r>
            <a:r>
              <a:rPr lang="en-US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ASEE</a:t>
            </a:r>
            <a:endParaRPr lang="en-US" sz="900" spc="113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3" name="文本框 452" descr="{&quot;isTemplate&quot;:true,&quot;type&quot;:&quot;text&quot;}"/>
          <p:cNvSpPr txBox="1"/>
          <p:nvPr/>
        </p:nvSpPr>
        <p:spPr>
          <a:xfrm>
            <a:off x="381000" y="400050"/>
            <a:ext cx="526732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总体框架：先建知识库，再做双向注入</a:t>
            </a:r>
            <a:endParaRPr lang="zh-CN" sz="2400" b="1" spc="38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4" name="圆角矩形 453"/>
          <p:cNvSpPr/>
          <p:nvPr/>
        </p:nvSpPr>
        <p:spPr>
          <a:xfrm>
            <a:off x="10525125" y="371475"/>
            <a:ext cx="1285875" cy="257175"/>
          </a:xfrm>
          <a:prstGeom prst="roundRect">
            <a:avLst>
              <a:gd name="adj" fmla="val 11111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10658475" y="428625"/>
            <a:ext cx="10191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图</a:t>
            </a:r>
            <a:r>
              <a:rPr lang="en-US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 2 / ASEE </a:t>
            </a: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模块</a:t>
            </a:r>
            <a:endParaRPr lang="zh-CN" sz="900" b="1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6" name="矩形 455"/>
          <p:cNvSpPr/>
          <p:nvPr/>
        </p:nvSpPr>
        <p:spPr>
          <a:xfrm>
            <a:off x="381000" y="876300"/>
            <a:ext cx="11430000" cy="9525"/>
          </a:xfrm>
          <a:prstGeom prst="rect">
            <a:avLst/>
          </a:prstGeom>
          <a:solidFill>
            <a:srgbClr val="D6DCE5"/>
          </a:solidFill>
        </p:spPr>
        <p:txBody>
          <a:bodyPr/>
          <a:p/>
        </p:txBody>
      </p:sp>
      <p:sp>
        <p:nvSpPr>
          <p:cNvPr id="457" name="圆角矩形 456"/>
          <p:cNvSpPr/>
          <p:nvPr/>
        </p:nvSpPr>
        <p:spPr>
          <a:xfrm>
            <a:off x="381000" y="990600"/>
            <a:ext cx="11430000" cy="1447800"/>
          </a:xfrm>
          <a:prstGeom prst="roundRect">
            <a:avLst>
              <a:gd name="adj" fmla="val 1974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666750" y="1143000"/>
            <a:ext cx="10858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先验知识库构建</a:t>
            </a:r>
            <a:r>
              <a:rPr lang="en-US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离线完成，与训练解耦</a:t>
            </a:r>
            <a:endParaRPr lang="zh-CN" sz="900" b="1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9" name="圆角矩形 458"/>
          <p:cNvSpPr/>
          <p:nvPr/>
        </p:nvSpPr>
        <p:spPr>
          <a:xfrm>
            <a:off x="914400" y="1400175"/>
            <a:ext cx="3048000" cy="78105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C6D7EE"/>
            </a:solidFill>
            <a:prstDash val="solid"/>
          </a:ln>
        </p:spPr>
        <p:txBody>
          <a:bodyPr/>
          <a:p/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1066800" y="1552575"/>
            <a:ext cx="27432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S · </a:t>
            </a:r>
            <a:r>
              <a:rPr lang="zh-CN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解剖语义嵌入</a:t>
            </a:r>
            <a:endParaRPr lang="zh-CN" sz="112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1" name="文本框 460" descr="{&quot;isTemplate&quot;:true,&quot;type&quot;:&quot;text&quot;}"/>
          <p:cNvSpPr txBox="1"/>
          <p:nvPr/>
        </p:nvSpPr>
        <p:spPr>
          <a:xfrm>
            <a:off x="1066800" y="1800225"/>
            <a:ext cx="27432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BioClinicalBERT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编码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线性映射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C × d</a:t>
            </a:r>
            <a:endParaRPr lang="en-US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4171950" y="1657350"/>
            <a:ext cx="190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⊕</a:t>
            </a:r>
            <a:endParaRPr sz="18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3" name="圆角矩形 462"/>
          <p:cNvSpPr/>
          <p:nvPr/>
        </p:nvSpPr>
        <p:spPr>
          <a:xfrm>
            <a:off x="4572000" y="1400175"/>
            <a:ext cx="3048000" cy="78105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C6D7EE"/>
            </a:solidFill>
            <a:prstDash val="solid"/>
          </a:ln>
        </p:spPr>
        <p:txBody>
          <a:bodyPr/>
          <a:p/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4724400" y="1552575"/>
            <a:ext cx="27432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CP · </a:t>
            </a:r>
            <a:r>
              <a:rPr lang="zh-CN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条件概率嵌入</a:t>
            </a:r>
            <a:endParaRPr lang="zh-CN" sz="112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5" name="文本框 464" descr="{&quot;isTemplate&quot;:true,&quot;type&quot;:&quot;text&quot;}"/>
          <p:cNvSpPr txBox="1"/>
          <p:nvPr/>
        </p:nvSpPr>
        <p:spPr>
          <a:xfrm>
            <a:off x="4724400" y="1800225"/>
            <a:ext cx="27432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共现统计对数比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M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经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MLP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映射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C × d</a:t>
            </a:r>
            <a:endParaRPr lang="en-US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7848600" y="1666875"/>
            <a:ext cx="1619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endParaRPr lang="en-US" sz="16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7" name="圆角矩形 466"/>
          <p:cNvSpPr/>
          <p:nvPr/>
        </p:nvSpPr>
        <p:spPr>
          <a:xfrm>
            <a:off x="8229600" y="1400175"/>
            <a:ext cx="3048000" cy="781050"/>
          </a:xfrm>
          <a:prstGeom prst="roundRect">
            <a:avLst>
              <a:gd name="adj" fmla="val 3659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468" name="文本框 467" descr="{&quot;isTemplate&quot;:true,&quot;type&quot;:&quot;text&quot;}"/>
          <p:cNvSpPr txBox="1"/>
          <p:nvPr/>
        </p:nvSpPr>
        <p:spPr>
          <a:xfrm>
            <a:off x="8382000" y="1552575"/>
            <a:ext cx="27432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E_prior · </a:t>
            </a: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先验知识库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9" name="文本框 468" descr="{&quot;isTemplate&quot;:true,&quot;type&quot;:&quot;text&quot;}"/>
          <p:cNvSpPr txBox="1"/>
          <p:nvPr/>
        </p:nvSpPr>
        <p:spPr>
          <a:xfrm>
            <a:off x="8382000" y="1800225"/>
            <a:ext cx="27432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C9D8EF"/>
                </a:solidFill>
                <a:latin typeface="微软雅黑" panose="020B0503020204020204" charset="-122"/>
                <a:ea typeface="微软雅黑" panose="020B0503020204020204" charset="-122"/>
              </a:rPr>
              <a:t>唯一被注入到主干的中间表示</a:t>
            </a:r>
            <a:endParaRPr lang="zh-CN" sz="900">
              <a:solidFill>
                <a:srgbClr val="C9D8E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70" name="图片 46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72175" y="2438400"/>
            <a:ext cx="247650" cy="247650"/>
          </a:xfrm>
          <a:prstGeom prst="rect">
            <a:avLst/>
          </a:prstGeom>
        </p:spPr>
      </p:pic>
      <p:sp>
        <p:nvSpPr>
          <p:cNvPr id="471" name="圆角矩形 470"/>
          <p:cNvSpPr/>
          <p:nvPr/>
        </p:nvSpPr>
        <p:spPr>
          <a:xfrm>
            <a:off x="381000" y="2686050"/>
            <a:ext cx="2381250" cy="685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3D7BD9"/>
            </a:solidFill>
            <a:prstDash val="dash"/>
          </a:ln>
        </p:spPr>
        <p:txBody>
          <a:bodyPr/>
          <a:p/>
        </p:txBody>
      </p:sp>
      <p:sp>
        <p:nvSpPr>
          <p:cNvPr id="472" name="文本框 471" descr="{&quot;isTemplate&quot;:true,&quot;type&quot;:&quot;text&quot;}"/>
          <p:cNvSpPr txBox="1"/>
          <p:nvPr/>
        </p:nvSpPr>
        <p:spPr>
          <a:xfrm>
            <a:off x="514350" y="2847975"/>
            <a:ext cx="21145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T⁽⁰⁾ · Patch Tokens</a:t>
            </a:r>
            <a:endParaRPr lang="en-US"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514350" y="3076575"/>
            <a:ext cx="2114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N_p × d</a:t>
            </a:r>
            <a:endParaRPr lang="en-US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74" name="图片 47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28925" y="2962275"/>
            <a:ext cx="266700" cy="133350"/>
          </a:xfrm>
          <a:prstGeom prst="rect">
            <a:avLst/>
          </a:prstGeom>
        </p:spPr>
      </p:pic>
      <p:sp>
        <p:nvSpPr>
          <p:cNvPr id="475" name="圆角矩形 474"/>
          <p:cNvSpPr/>
          <p:nvPr/>
        </p:nvSpPr>
        <p:spPr>
          <a:xfrm>
            <a:off x="3162300" y="2686050"/>
            <a:ext cx="2857500" cy="685800"/>
          </a:xfrm>
          <a:prstGeom prst="roundRect">
            <a:avLst>
              <a:gd name="adj" fmla="val 4167"/>
            </a:avLst>
          </a:prstGeom>
          <a:solidFill>
            <a:srgbClr val="E8EFF8"/>
          </a:solidFill>
          <a:ln w="12700">
            <a:solidFill>
              <a:srgbClr val="C6D7EE"/>
            </a:solidFill>
            <a:prstDash val="solid"/>
          </a:ln>
        </p:spPr>
        <p:txBody>
          <a:bodyPr/>
          <a:p/>
        </p:txBody>
      </p:sp>
      <p:sp>
        <p:nvSpPr>
          <p:cNvPr id="476" name="文本框 475" descr="{&quot;isTemplate&quot;:true,&quot;type&quot;:&quot;text&quot;}"/>
          <p:cNvSpPr txBox="1"/>
          <p:nvPr/>
        </p:nvSpPr>
        <p:spPr>
          <a:xfrm>
            <a:off x="3295650" y="2847975"/>
            <a:ext cx="25908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Cross-Attention</a:t>
            </a:r>
            <a:endParaRPr lang="en-US" sz="10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3295650" y="3076575"/>
            <a:ext cx="25908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T⁽⁰⁾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作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Q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E_prior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作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K / V</a:t>
            </a:r>
            <a:endParaRPr lang="en-US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78" name="图片 47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6475" y="2962275"/>
            <a:ext cx="266700" cy="133350"/>
          </a:xfrm>
          <a:prstGeom prst="rect">
            <a:avLst/>
          </a:prstGeom>
        </p:spPr>
      </p:pic>
      <p:sp>
        <p:nvSpPr>
          <p:cNvPr id="479" name="圆角矩形 478"/>
          <p:cNvSpPr/>
          <p:nvPr/>
        </p:nvSpPr>
        <p:spPr>
          <a:xfrm>
            <a:off x="6419850" y="2686050"/>
            <a:ext cx="1962150" cy="685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480" name="文本框 479" descr="{&quot;isTemplate&quot;:true,&quot;type&quot;:&quot;text&quot;}"/>
          <p:cNvSpPr txBox="1"/>
          <p:nvPr/>
        </p:nvSpPr>
        <p:spPr>
          <a:xfrm>
            <a:off x="6553200" y="2847975"/>
            <a:ext cx="16954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T̃⁽⁰⁾ </a:t>
            </a:r>
            <a:r>
              <a:rPr lang="zh-CN"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语义增强图像特征</a:t>
            </a:r>
            <a:endParaRPr lang="zh-CN"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6553200" y="3076575"/>
            <a:ext cx="16954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看到「该看哪儿」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2" name="文本框 481" descr="{&quot;isTemplate&quot;:true,&quot;type&quot;:&quot;text&quot;}"/>
          <p:cNvSpPr txBox="1"/>
          <p:nvPr/>
        </p:nvSpPr>
        <p:spPr>
          <a:xfrm>
            <a:off x="381000" y="3457575"/>
            <a:ext cx="80010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38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同一套先验，两条支路各取所需</a:t>
            </a:r>
            <a:endParaRPr lang="zh-CN" sz="900" spc="38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3" name="圆角矩形 482"/>
          <p:cNvSpPr/>
          <p:nvPr/>
        </p:nvSpPr>
        <p:spPr>
          <a:xfrm>
            <a:off x="381000" y="3676650"/>
            <a:ext cx="2381250" cy="685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3D7BD9"/>
            </a:solidFill>
            <a:prstDash val="dash"/>
          </a:ln>
        </p:spPr>
        <p:txBody>
          <a:bodyPr/>
          <a:p/>
        </p:txBody>
      </p:sp>
      <p:sp>
        <p:nvSpPr>
          <p:cNvPr id="484" name="文本框 483" descr="{&quot;isTemplate&quot;:true,&quot;type&quot;:&quot;text&quot;}"/>
          <p:cNvSpPr txBox="1"/>
          <p:nvPr/>
        </p:nvSpPr>
        <p:spPr>
          <a:xfrm>
            <a:off x="514350" y="3838575"/>
            <a:ext cx="21145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Q_init · </a:t>
            </a:r>
            <a:r>
              <a:rPr lang="zh-CN"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可学习参数</a:t>
            </a:r>
            <a:endParaRPr lang="zh-CN"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514350" y="4067175"/>
            <a:ext cx="2114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N_q = 2C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，随机初始化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86" name="图片 48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28925" y="3952875"/>
            <a:ext cx="266700" cy="133350"/>
          </a:xfrm>
          <a:prstGeom prst="rect">
            <a:avLst/>
          </a:prstGeom>
        </p:spPr>
      </p:pic>
      <p:sp>
        <p:nvSpPr>
          <p:cNvPr id="487" name="圆角矩形 486"/>
          <p:cNvSpPr/>
          <p:nvPr/>
        </p:nvSpPr>
        <p:spPr>
          <a:xfrm>
            <a:off x="3162300" y="3676650"/>
            <a:ext cx="2857500" cy="685800"/>
          </a:xfrm>
          <a:prstGeom prst="roundRect">
            <a:avLst>
              <a:gd name="adj" fmla="val 4167"/>
            </a:avLst>
          </a:prstGeom>
          <a:solidFill>
            <a:srgbClr val="E8EFF8"/>
          </a:solidFill>
          <a:ln w="12700">
            <a:solidFill>
              <a:srgbClr val="C6D7EE"/>
            </a:solidFill>
            <a:prstDash val="solid"/>
          </a:ln>
        </p:spPr>
        <p:txBody>
          <a:bodyPr/>
          <a:p/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3295650" y="3838575"/>
            <a:ext cx="25908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MLP_proj(E_prior)</a:t>
            </a:r>
            <a:endParaRPr lang="en-US" sz="10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9" name="文本框 488" descr="{&quot;isTemplate&quot;:true,&quot;type&quot;:&quot;text&quot;}"/>
          <p:cNvSpPr txBox="1"/>
          <p:nvPr/>
        </p:nvSpPr>
        <p:spPr>
          <a:xfrm>
            <a:off x="3295650" y="4067175"/>
            <a:ext cx="25908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类别先验映射回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d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维并相加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90" name="图片 48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6475" y="3952875"/>
            <a:ext cx="266700" cy="133350"/>
          </a:xfrm>
          <a:prstGeom prst="rect">
            <a:avLst/>
          </a:prstGeom>
        </p:spPr>
      </p:pic>
      <p:sp>
        <p:nvSpPr>
          <p:cNvPr id="491" name="圆角矩形 490"/>
          <p:cNvSpPr/>
          <p:nvPr/>
        </p:nvSpPr>
        <p:spPr>
          <a:xfrm>
            <a:off x="6419850" y="3676650"/>
            <a:ext cx="1962150" cy="685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6553200" y="3838575"/>
            <a:ext cx="16954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Q̃⁽⁰⁾ </a:t>
            </a:r>
            <a:r>
              <a:rPr lang="zh-CN"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解剖指向</a:t>
            </a:r>
            <a:r>
              <a:rPr lang="en-US"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 Query</a:t>
            </a:r>
            <a:endParaRPr lang="en-US"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3" name="文本框 492" descr="{&quot;isTemplate&quot;:true,&quot;type&quot;:&quot;text&quot;}"/>
          <p:cNvSpPr txBox="1"/>
          <p:nvPr/>
        </p:nvSpPr>
        <p:spPr>
          <a:xfrm>
            <a:off x="6553200" y="4067175"/>
            <a:ext cx="16954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知道「该找什么」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4" name="圆角矩形 493"/>
          <p:cNvSpPr/>
          <p:nvPr/>
        </p:nvSpPr>
        <p:spPr>
          <a:xfrm>
            <a:off x="8791575" y="3000375"/>
            <a:ext cx="3048000" cy="1047750"/>
          </a:xfrm>
          <a:prstGeom prst="roundRect">
            <a:avLst>
              <a:gd name="adj" fmla="val 2727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495" name="任意多边形 494"/>
          <p:cNvSpPr/>
          <p:nvPr/>
        </p:nvSpPr>
        <p:spPr>
          <a:xfrm>
            <a:off x="8791575" y="3000375"/>
            <a:ext cx="3048000" cy="1047750"/>
          </a:xfrm>
          <a:custGeom>
            <a:avLst/>
            <a:gdLst/>
            <a:ahLst/>
            <a:cxnLst/>
            <a:pathLst>
              <a:path w="320" h="110">
                <a:moveTo>
                  <a:pt x="3" y="110"/>
                </a:moveTo>
                <a:cubicBezTo>
                  <a:pt x="1" y="110"/>
                  <a:pt x="0" y="109"/>
                  <a:pt x="0" y="10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10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8963025" y="3171825"/>
            <a:ext cx="2676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汇合后回灌主干</a:t>
            </a:r>
            <a:endParaRPr lang="zh-CN" sz="900" b="1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7" name="文本框 496" descr="{&quot;isTemplate&quot;:true,&quot;type&quot;:&quot;text&quot;}"/>
          <p:cNvSpPr txBox="1"/>
          <p:nvPr/>
        </p:nvSpPr>
        <p:spPr>
          <a:xfrm>
            <a:off x="8963025" y="3371850"/>
            <a:ext cx="26765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Z⁽⁰⁾ = Concat(Q̃⁽⁰⁾, T̃⁽⁰⁾)</a:t>
            </a:r>
            <a:endParaRPr lang="en-US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8" name="文本框 497" descr="{&quot;isTemplate&quot;:true,&quot;type&quot;:&quot;text&quot;}"/>
          <p:cNvSpPr txBox="1"/>
          <p:nvPr/>
        </p:nvSpPr>
        <p:spPr>
          <a:xfrm>
            <a:off x="8963025" y="3648075"/>
            <a:ext cx="2676525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后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层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Block → Fusion → Head</a:t>
            </a:r>
            <a:endParaRPr lang="en-US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9" name="任意多边形 498"/>
          <p:cNvSpPr/>
          <p:nvPr/>
        </p:nvSpPr>
        <p:spPr>
          <a:xfrm>
            <a:off x="381000" y="4762500"/>
            <a:ext cx="3657600" cy="1276350"/>
          </a:xfrm>
          <a:custGeom>
            <a:avLst/>
            <a:gdLst/>
            <a:ahLst/>
            <a:cxnLst/>
            <a:pathLst>
              <a:path w="384" h="134">
                <a:moveTo>
                  <a:pt x="0" y="0"/>
                </a:moveTo>
                <a:lnTo>
                  <a:pt x="384" y="0"/>
                </a:lnTo>
                <a:lnTo>
                  <a:pt x="384" y="2"/>
                </a:lnTo>
                <a:lnTo>
                  <a:pt x="0" y="2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381000" y="4895850"/>
            <a:ext cx="36576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一次交叉注意力</a:t>
            </a:r>
            <a:endParaRPr 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381000" y="5276850"/>
            <a:ext cx="36576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在线只做一次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patch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与先验的交互，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E_prior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可离线缓存，训练时随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batch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复用。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2" name="任意多边形 501"/>
          <p:cNvSpPr/>
          <p:nvPr/>
        </p:nvSpPr>
        <p:spPr>
          <a:xfrm>
            <a:off x="4267200" y="4762500"/>
            <a:ext cx="3657600" cy="1276350"/>
          </a:xfrm>
          <a:custGeom>
            <a:avLst/>
            <a:gdLst/>
            <a:ahLst/>
            <a:cxnLst/>
            <a:pathLst>
              <a:path w="384" h="134">
                <a:moveTo>
                  <a:pt x="0" y="0"/>
                </a:moveTo>
                <a:lnTo>
                  <a:pt x="384" y="0"/>
                </a:lnTo>
                <a:lnTo>
                  <a:pt x="384" y="2"/>
                </a:lnTo>
                <a:lnTo>
                  <a:pt x="0" y="2"/>
                </a:lnTo>
                <a:close/>
              </a:path>
            </a:pathLst>
          </a:custGeom>
          <a:solidFill>
            <a:srgbClr val="3D7BD9"/>
          </a:solidFill>
        </p:spPr>
        <p:txBody>
          <a:bodyPr/>
          <a:p/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4267200" y="4895850"/>
            <a:ext cx="36576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增量参数极小</a:t>
            </a:r>
            <a:endParaRPr 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4" name="文本框 503" descr="{&quot;isTemplate&quot;:true,&quot;type&quot;:&quot;text&quot;}"/>
          <p:cNvSpPr txBox="1"/>
          <p:nvPr/>
        </p:nvSpPr>
        <p:spPr>
          <a:xfrm>
            <a:off x="4267200" y="5276850"/>
            <a:ext cx="36576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新增一个线性映射、一个轻量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MLP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与一次注意力的投影矩阵，不改动主干权重结构。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5" name="任意多边形 504"/>
          <p:cNvSpPr/>
          <p:nvPr/>
        </p:nvSpPr>
        <p:spPr>
          <a:xfrm>
            <a:off x="8153400" y="4762500"/>
            <a:ext cx="3657600" cy="1276350"/>
          </a:xfrm>
          <a:custGeom>
            <a:avLst/>
            <a:gdLst/>
            <a:ahLst/>
            <a:cxnLst/>
            <a:pathLst>
              <a:path w="384" h="134">
                <a:moveTo>
                  <a:pt x="0" y="0"/>
                </a:moveTo>
                <a:lnTo>
                  <a:pt x="384" y="0"/>
                </a:lnTo>
                <a:lnTo>
                  <a:pt x="384" y="2"/>
                </a:lnTo>
                <a:lnTo>
                  <a:pt x="0" y="2"/>
                </a:lnTo>
                <a:close/>
              </a:path>
            </a:pathLst>
          </a:custGeom>
          <a:solidFill>
            <a:srgbClr val="9CB6DC"/>
          </a:solidFill>
        </p:spPr>
        <p:txBody>
          <a:bodyPr/>
          <a:p/>
        </p:txBody>
      </p:sp>
      <p:sp>
        <p:nvSpPr>
          <p:cNvPr id="506" name="文本框 505" descr="{&quot;isTemplate&quot;:true,&quot;type&quot;:&quot;text&quot;}"/>
          <p:cNvSpPr txBox="1"/>
          <p:nvPr/>
        </p:nvSpPr>
        <p:spPr>
          <a:xfrm>
            <a:off x="8153400" y="4895850"/>
            <a:ext cx="36576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主干零改动</a:t>
            </a:r>
            <a:endParaRPr 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8153400" y="5276850"/>
            <a:ext cx="36576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后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Transformer Block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Learnable Block Fusion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与预测头完整沿用原实现。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8" name="文本框 507" descr="{&quot;isTemplate&quot;:true,&quot;type&quot;:&quot;text&quot;}"/>
          <p:cNvSpPr txBox="1"/>
          <p:nvPr/>
        </p:nvSpPr>
        <p:spPr>
          <a:xfrm>
            <a:off x="381000" y="6334125"/>
            <a:ext cx="1390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ASEE · 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解剖语义增强编码</a:t>
            </a:r>
            <a:endParaRPr lang="zh-CN" sz="9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11315700" y="6324600"/>
            <a:ext cx="180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0" name="文本框 509" descr="{&quot;isTemplate&quot;:true,&quot;type&quot;:&quot;text&quot;}"/>
          <p:cNvSpPr txBox="1"/>
          <p:nvPr/>
        </p:nvSpPr>
        <p:spPr>
          <a:xfrm>
            <a:off x="11496675" y="6324600"/>
            <a:ext cx="3143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/ 14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1" name="" descr="&lt;Slide style={{ width: 1280, height: 720, padding: 0, background: '#FFFFFF' }}&gt;&#13;&#10;    &lt;Box style={{ position: 'relative', width: 1280, height: 720 }}&gt;&#13;&#10;&#13;&#10;        &lt;Box style={{ position: 'absolute', left: 0, top: 0, width: 1280, height: 8, background: '#1E4FA8' }} /&gt;&#13;&#10;&#13;&#10;        {/* 页眉 */}&#13;&#10;        &lt;Box style={{ position: 'absolute', left: 40, top: 22, width: 1200, height: 60, flexDirection: 'row', alignItems: 'center' }}&gt;&#13;&#10;            &lt;Box&gt;&#13;&#10;                &lt;Text style={{ fontSize: 12, color: '#3D7BD9', letterSpacing: 1.5 }}&gt;02 / 方法设计 · 步骤 1&lt;/Text&gt;&#13;&#10;                &lt;Box style={{ height: 4 }} /&gt;&#13;&#10;                &lt;Text style={{ fontSize: 32, fontWeight: 'bold', color: '#0E3F8C', letterSpacing: 0.5 }}&gt;把读片常识写成一句可编码的描述&lt;/Text&gt;&#13;&#10;            &lt;/Box&gt;&#13;&#10;            &lt;Box style={{ flex: 1 }} /&gt;&#13;&#10;            &lt;Box style={{ background: '#E8EFF8', borderRadius: 3, padding: '6px 14px' }}&gt;&#13;&#10;                &lt;Text style={{ fontSize: 12, color: '#1E4FA8', fontWeight: 'bold', letterSpacing: 1 }}&gt;步骤 1 / 语义嵌入 S&lt;/Text&gt;&#13;&#10;            &lt;/Box&gt;&#13;&#10;        &lt;/Box&gt;&#13;&#10;        &lt;Box style={{ position: 'absolute', left: 40, top: 92, width: 1200, height: 1, background: '#D6DCE5' }} /&gt;&#13;&#10;&#13;&#10;        {/* 左：流程 */}&#13;&#10;        &lt;Box style={{ position: 'absolute', left: 40, top: 106, width: 680, height: 534 }}&gt;&#13;&#10;&#13;&#10;            &lt;Box style={{ height: 58, background: '#F7F9FC', border: '1px solid #D6DCE5', borderRadius: 3, padding: '9px 18px', justifyContent: 'center' }}&gt;&#13;&#10;                &lt;Text style={{ fontSize: 15, fontWeight: 'bold', color: '#1A2230', lineHeight: 1.4 }}&gt;含 C 个解剖类别的目标数据集&lt;/Text&gt;&#13;&#10;                &lt;Text style={{ fontSize: 12, color: '#8B97A8', lineHeight: 1.5 }}&gt;腹部 CT（Synapse）/ 心脏 MRI（ACDC）&lt;/Text&gt;&#13;&#10;            &lt;/Box&gt;&#13;&#10;&#13;&#10;            &lt;Box style={{ height: 22, alignItems: 'center', justifyContent: 'center' }}&gt;&#13;&#10;                &lt;svg width={20} height={20} viewBox='0 0 20 20'&gt;&#13;&#10;                    &lt;path d='M10 2 L10 13 M6 10 L10 15 L14 10' stroke='#9CB6DC' strokeWidth='1.6' fill='none' /&gt;&#13;&#10;                &lt;/svg&gt;&#13;&#10;            &lt;/Box&gt;&#13;&#10;&#13;&#10;            &lt;Box style={{ height: 156, background: '#F0F5FC', border: '1px solid #C6D7EE', borderLeft: '3px solid #1E4FA8', borderRadius: 3, padding: '10px 18px' }}&gt;&#13;&#10;                &lt;Text style={{ fontSize: 15, fontWeight: 'bold', color: '#0E3F8C', lineHeight: 1.4 }}&gt;解剖空间关系描述模板&lt;/Text&gt;&#13;&#10;                &lt;Box style={{ height: 6 }} /&gt;&#13;&#10;                &lt;Text style={{ fontSize: 12, color: '#4A5568', lineHeight: 1.6 }}&gt;每类一句，写清「在哪 · 挨着谁」&lt;/Text&gt;&#13;&#10;                &lt;Box style={{ height: 8 }} /&gt;&#13;&#10;                &lt;Box style={{ background: '#FFFFFF', border: '1px dashed #C6D7EE', borderRadius: 2, padding: '8px 12px' }}&gt;&#13;&#10;                    &lt;Text style={{ fontSize: 13, color: '#1A2230', lineHeight: 1.9 }}&gt;&#13;&#10;                        胆囊：位于肝脏下缘的胆囊窝，紧邻肝右叶&#13;&#10;                        &lt;br /&gt;&#13;&#10;                        左心室：心腔，被心肌包裹；主动脉：位于脊椎前方&#13;&#10;                    &lt;/Text&gt;&#13;&#10;                &lt;/Box&gt;&#13;&#10;            &lt;/Box&gt;&#13;&#10;&#13;&#10;            &lt;Box style={{ height: 22, alignItems: 'center', justifyContent: 'center' }}&gt;&#13;&#10;                &lt;svg width={20} height={20} viewBox='0 0 20 20'&gt;&#13;&#10;                    &lt;path d='M10 2 L10 13 M6 10 L10 15 L14 10' stroke='#9CB6DC' strokeWidth='1.6' fill='none' /&gt;&#13;&#10;                &lt;/svg&gt;&#13;&#10;            &lt;/Box&gt;&#13;&#10;&#13;&#10;            &lt;Box style={{ height: 58, background: '#FFFFFF', border: '1px solid #3D7BD9', borderRadius: 3, padding: '9px 18px', justifyContent: 'center' }}&gt;&#13;&#10;                &lt;Text style={{ fontSize: 15, fontWeight: 'bold', color: '#1E4FA8', lineHeight: 1.4 }}&gt;BioClinicalBERT · 预训练医学文本编码器&lt;/Text&gt;&#13;&#10;                &lt;Text style={{ fontSize: 12, color: '#8B97A8', lineHeight: 1.5 }}&gt;让「胆囊窝」这类术语落在有意义的向量位置上&lt;/Text&gt;&#13;&#10;            &lt;/Box&gt;&#13;&#10;&#13;&#10;            &lt;Box style={{ height: 22, alignItems: 'center', justifyContent: 'center' }}&gt;&#13;&#10;                &lt;svg width={20} height={20} viewBox='0 0 20 20'&gt;&#13;&#10;                    &lt;path d='M10 2 L10 13 M6 10 L10 15 L14 10' stroke='#9CB6DC' strokeWidth='1.6' fill='none' /&gt;&#13;&#10;                &lt;/svg&gt;&#13;&#10;            &lt;/Box&gt;&#13;&#10;&#13;&#10;            &lt;Box style={{ height: 58, background: '#FFFFFF', border: '1px solid #D6DCE5', borderRadius: 3, padding: '9px 18px', justifyContent: 'center' }}&gt;&#13;&#10;                &lt;Text style={{ fontSize: 15, fontWeight: 'bold', color: '#1A2230', lineHeight: 1.4 }}&gt;线性层映射到 d 维&lt;/Text&gt;&#13;&#10;                &lt;Text style={{ fontSize: 12, color: '#8B97A8', lineHeight: 1.5 }}&gt;与 DINOv2 特征维度对齐，可直接参与注意力计算&lt;/Text&gt;&#13;&#10;            &lt;/Box&gt;&#13;&#10;&#13;&#10;            &lt;Box style={{ height: 22, alignItems: 'center', justifyContent: 'center' }}&gt;&#13;&#10;                &lt;svg width={20} height={20} viewBox='0 0 20 20'&gt;&#13;&#10;                    &lt;path d='M10 2 L10 13 M6 10 L10 15 L14 10' stroke='#1E4FA8' strokeWidth='1.6' fill='none' /&gt;&#13;&#10;                &lt;/svg&gt;&#13;&#10;            &lt;/Box&gt;&#13;&#10;&#13;&#10;            &lt;Box style={{ height: 76, background: '#0E3F8C', borderRadius: 3, padding: '10px 18px', flexDirection: 'row', alignItems: 'center' }}&gt;&#13;&#10;                &lt;Box style={{ flex: 1 }}&gt;&#13;&#10;                    &lt;Text style={{ fontSize: 15, fontWeight: 'bold', color: '#FFFFFF', lineHeight: 1.4 }}&gt;解剖语义嵌入矩阵 S&lt;/Text&gt;&#13;&#10;                    &lt;Text style={{ fontSize: 12, color: '#C9D8EF', lineHeight: 1.5 }}&gt;每行对应一个类别，每列对应一个特征维度&lt;/Text&gt;&#13;&#10;                &lt;/Box&gt;&#13;&#10;                &lt;Text style={{ fontSize: 24, fontWeight: 'bold', color: '#FFC107', letterSpacing: 1 }}&gt;C × d&lt;/Text&gt;&#13;&#10;            &lt;/Box&gt;&#13;&#10;        &lt;/Box&gt;&#13;&#10;&#13;&#10;        {/* 右：解读 */}&#13;&#10;        &lt;Box style={{ position: 'absolute', left: 760, top: 106, width: 480, height: 534 }}&gt;&#13;&#10;&#13;&#10;            &lt;Text style={{ fontSize: 12, color: '#1E4FA8', fontWeight: 'bold', letterSpacing: 1 }}&gt;设计取舍&lt;/Text&gt;&#13;&#10;            &lt;Box style={{ height: 8 }} /&gt;&#13;&#10;            &lt;Text style={{ fontSize: 22, fontWeight: 'bold', color: '#0E3F8C', lineHeight: 1.4 }}&gt;&#13;&#10;                为什么不直接学一个类别向量？&#13;&#10;            &lt;/Text&gt;&#13;&#10;            &lt;Box style={{ height: 12 }} /&gt;&#13;&#10;            &lt;Text style={{ fontSize: 14, color: '#4A5568', lineHeight: 1.95 }}&gt;&#13;&#10;                纯可学习的类别向量只能记住「这类东西长什么样」，&#13;&#10;                却记不住「它通常出现在哪、和谁相邻」。&#13;&#10;                而空间关系在医学图像里高度稳定——胆囊几乎总在肝下缘，&#13;&#10;                左心室总被心肌包裹。把它写进文本模板，等于把这些规律从数据里&#13;&#10;                提前搬到参数里。&#13;&#10;            &lt;/Text&gt;&#13;&#10;&#13;&#10;            &lt;Box style={{ height: 18 }} /&gt;&#13;&#10;            &lt;Box style={{ borderTop: '1px solid #D6DCE5' }} /&gt;&#13;&#10;            &lt;Box style={{ height: 14 }} /&gt;&#13;&#10;&#13;&#10;            &lt;Box style={{ flexDirection: 'row', alignItems: 'flex-start', gap: 10 }}&gt;&#13;&#10;                &lt;Text style={{ fontSize: 13, fontWeight: 'bold', color: '#1E4FA8', width: 18, lineHeight: 1.8 }}&gt;1&lt;/Text&gt;&#13;&#10;                &lt;Text style={{ flex: 1, fontSize: 14, color: '#1A2230', lineHeight: 1.8 }}&gt;&#13;&#10;                    模板只需写一次，与数据集类别表同步维护&#13;&#10;                &lt;/Text&gt;&#13;&#10;            &lt;/Box&gt;&#13;&#10;            &lt;Box style={{ flexDirection: 'row', alignItems: 'flex-start', gap: 10 }}&gt;&#13;&#10;                &lt;Text style={{ fontSize: 13, fontWeight: 'bold', color: '#1E4FA8', width: 18, lineHeight: 1.8 }}&gt;2&lt;/Text&gt;&#13;&#10;                &lt;Text style={{ flex: 1, fontSize: 14, color: '#1A2230', lineHeight: 1.8 }}&gt;&#13;&#10;                    编码器冻结，S 可在训练前离线算好并缓存&#13;&#10;                &lt;/Text&gt;&#13;&#10;            &lt;/Box&gt;&#13;&#10;            &lt;Box style={{ flexDirection: 'row', alignItems: 'flex-start', gap: 10 }}&gt;&#13;&#10;                &lt;Text style={{ fontSize: 13, fontWeight: 'bold', color: '#1E4FA8', width: 18, lineHeight: 1.8 }}&gt;3&lt;/Text&gt;&#13;&#10;                &lt;Text style={{ flex: 1, fontSize: 14, color: '#1A2230', lineHeight: 1.8 }}&gt;&#13;&#10;                    映射层可训练，让语义空间向视觉特征空间靠拢&#13;&#10;                &lt;/Text&gt;&#13;&#10;            &lt;/Box&gt;&#13;&#10;&#13;&#10;            &lt;Box style={{ height: 10 }} /&gt;&#13;&#10;            &lt;Box style={{ background: '#F7F9FC', border: '1px solid #D6DCE5', borderRadius: 3, padding: '10px 16px' }}&gt;&#13;&#10;                &lt;Text style={{ fontSize: 12, color: '#4A5568', lineHeight: 1.5 }}&gt;S 的形状：C 行（类别）× d 列（特征维）&lt;/Text&gt;&#13;&#10;                &lt;Box style={{ height: 8 }} /&gt;&#13;&#10;                &lt;svg width={252} height={58} viewBox='0 0 252 58'&gt;&#13;&#10;                    {[0, 1, 2, 3].map((r) =&gt; [0, 1, 2, 3, 4, 5, 6, 7].map((c) =&gt; (&#13;&#10;                        &lt;rect key={'c' + r + '_' + c} x={c * 31} y={r * 14} width={27} height={12} rx={2}&#13;&#10;                            fill={r === 1 ? '#1E4FA8' : '#E8EFF8'} stroke='#FFFFFF' strokeWidth={1} /&gt;&#13;&#10;                    )))}&#13;&#10;                &lt;/svg&gt;&#13;&#10;            &lt;/Box&gt;&#13;&#10;&#13;&#10;            &lt;Box style={{ flex: 1 }} /&gt;&#13;&#10;            &lt;Box style={{ background: '#F7F9FC', border: '1px solid #D6DCE5', borderRadius: 3, padding: '10px 16px' }}&gt;&#13;&#10;                &lt;Text style={{ fontSize: 13, color: '#4A5568', lineHeight: 1.8 }}&gt;&#13;&#10;                    &lt;span style={{ fontWeight: 'bold', color: '#0E3F8C' }}&gt;说明：&lt;/span&gt;&#13;&#10;                    这一步只产出「语义」，还没用到共现统计；&#13;&#10;                    空间上的强弱关系由步骤 2 的条件概率补上。&#13;&#10;                &lt;/Text&gt;&#13;&#10;            &lt;/Box&gt;&#13;&#10;        &lt;/Box&gt;&#13;&#10;&#13;&#10;        {/* 页脚 */}&#13;&#10;        &lt;Box style={{ position: 'absolute', left: 40, top: 664, width: 1200, flexDirection: 'row', alignItems: 'center' }}&gt;&#13;&#10;            &lt;Text style={{ fontSize: 13, color: '#8B97A8' }}&gt;ASEE · 解剖语义增强编码&lt;/Text&gt;&#13;&#10;            &lt;Box style={{ flex: 1 }} /&gt;&#13;&#10;            &lt;Text style={{ fontSize: 15, fontWeight: 'bold', color: '#1E4FA8' }}&gt;09&lt;/Text&gt;&#13;&#10;            &lt;Text style={{ fontSize: 15, color: '#8B97A8' }}&gt; / 14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矩形 5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13" name="矩形 51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514" name="文本框 513" descr="{&quot;isTemplate&quot;:true,&quot;type&quot;:&quot;text&quot;}"/>
          <p:cNvSpPr txBox="1"/>
          <p:nvPr/>
        </p:nvSpPr>
        <p:spPr>
          <a:xfrm>
            <a:off x="381000" y="219075"/>
            <a:ext cx="4648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02 / </a:t>
            </a:r>
            <a:r>
              <a:rPr lang="zh-CN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方法设计</a:t>
            </a:r>
            <a:r>
              <a:rPr lang="en-US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步骤</a:t>
            </a:r>
            <a:r>
              <a:rPr lang="en-US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 1</a:t>
            </a:r>
            <a:endParaRPr lang="en-US" sz="900" spc="113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381000" y="400050"/>
            <a:ext cx="46482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把读片常识写成一句可编码的描述</a:t>
            </a:r>
            <a:endParaRPr lang="zh-CN" sz="2400" b="1" spc="38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6" name="圆角矩形 515"/>
          <p:cNvSpPr/>
          <p:nvPr/>
        </p:nvSpPr>
        <p:spPr>
          <a:xfrm>
            <a:off x="10401300" y="371475"/>
            <a:ext cx="1409700" cy="257175"/>
          </a:xfrm>
          <a:prstGeom prst="roundRect">
            <a:avLst>
              <a:gd name="adj" fmla="val 11111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517" name="文本框 516" descr="{&quot;isTemplate&quot;:true,&quot;type&quot;:&quot;text&quot;}"/>
          <p:cNvSpPr txBox="1"/>
          <p:nvPr/>
        </p:nvSpPr>
        <p:spPr>
          <a:xfrm>
            <a:off x="10534650" y="428625"/>
            <a:ext cx="11430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步骤</a:t>
            </a:r>
            <a:r>
              <a:rPr lang="en-US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 1 / </a:t>
            </a: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语义嵌入</a:t>
            </a:r>
            <a:r>
              <a:rPr lang="en-US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 S</a:t>
            </a:r>
            <a:endParaRPr lang="en-US" sz="900" b="1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8" name="矩形 517"/>
          <p:cNvSpPr/>
          <p:nvPr/>
        </p:nvSpPr>
        <p:spPr>
          <a:xfrm>
            <a:off x="381000" y="876300"/>
            <a:ext cx="11430000" cy="9525"/>
          </a:xfrm>
          <a:prstGeom prst="rect">
            <a:avLst/>
          </a:prstGeom>
          <a:solidFill>
            <a:srgbClr val="D6DCE5"/>
          </a:solidFill>
        </p:spPr>
        <p:txBody>
          <a:bodyPr/>
          <a:p/>
        </p:txBody>
      </p:sp>
      <p:sp>
        <p:nvSpPr>
          <p:cNvPr id="519" name="圆角矩形 518"/>
          <p:cNvSpPr/>
          <p:nvPr/>
        </p:nvSpPr>
        <p:spPr>
          <a:xfrm>
            <a:off x="381000" y="1009650"/>
            <a:ext cx="6477000" cy="552450"/>
          </a:xfrm>
          <a:prstGeom prst="roundRect">
            <a:avLst>
              <a:gd name="adj" fmla="val 517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552450" y="1057275"/>
            <a:ext cx="61341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含</a:t>
            </a:r>
            <a:r>
              <a:rPr lang="en-US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C </a:t>
            </a:r>
            <a:r>
              <a:rPr lang="zh-CN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个解剖类别的目标数据集</a:t>
            </a:r>
            <a:endParaRPr lang="zh-CN" sz="112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1" name="文本框 520" descr="{&quot;isTemplate&quot;:true,&quot;type&quot;:&quot;text&quot;}"/>
          <p:cNvSpPr txBox="1"/>
          <p:nvPr/>
        </p:nvSpPr>
        <p:spPr>
          <a:xfrm>
            <a:off x="552450" y="1304925"/>
            <a:ext cx="6134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腹部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CT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Synapse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心脏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MRI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ACDC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22" name="图片 52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24250" y="1571625"/>
            <a:ext cx="190500" cy="190500"/>
          </a:xfrm>
          <a:prstGeom prst="rect">
            <a:avLst/>
          </a:prstGeom>
        </p:spPr>
      </p:pic>
      <p:sp>
        <p:nvSpPr>
          <p:cNvPr id="523" name="圆角矩形 522"/>
          <p:cNvSpPr/>
          <p:nvPr/>
        </p:nvSpPr>
        <p:spPr>
          <a:xfrm>
            <a:off x="409575" y="1771650"/>
            <a:ext cx="6477000" cy="1485900"/>
          </a:xfrm>
          <a:prstGeom prst="roundRect">
            <a:avLst>
              <a:gd name="adj" fmla="val 1923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524" name="任意多边形 523"/>
          <p:cNvSpPr/>
          <p:nvPr/>
        </p:nvSpPr>
        <p:spPr>
          <a:xfrm>
            <a:off x="409575" y="1771650"/>
            <a:ext cx="6477000" cy="1485900"/>
          </a:xfrm>
          <a:custGeom>
            <a:avLst/>
            <a:gdLst/>
            <a:ahLst/>
            <a:cxnLst/>
            <a:pathLst>
              <a:path w="680" h="156">
                <a:moveTo>
                  <a:pt x="3" y="156"/>
                </a:moveTo>
                <a:cubicBezTo>
                  <a:pt x="1" y="156"/>
                  <a:pt x="0" y="155"/>
                  <a:pt x="0" y="15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56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525" name="文本框 524" descr="{&quot;isTemplate&quot;:true,&quot;type&quot;:&quot;text&quot;}"/>
          <p:cNvSpPr txBox="1"/>
          <p:nvPr/>
        </p:nvSpPr>
        <p:spPr>
          <a:xfrm>
            <a:off x="581025" y="1866900"/>
            <a:ext cx="61055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解剖空间关系描述模板</a:t>
            </a:r>
            <a:endParaRPr lang="zh-CN" sz="11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581025" y="2171700"/>
            <a:ext cx="61055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每类一句，写清「在哪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挨着谁」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7" name="圆角矩形 526"/>
          <p:cNvSpPr/>
          <p:nvPr/>
        </p:nvSpPr>
        <p:spPr>
          <a:xfrm>
            <a:off x="581025" y="2476500"/>
            <a:ext cx="6105525" cy="7239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6D7EE"/>
            </a:solidFill>
            <a:prstDash val="dash"/>
          </a:ln>
        </p:spPr>
        <p:txBody>
          <a:bodyPr/>
          <a:p/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695325" y="2552700"/>
            <a:ext cx="5876925" cy="571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胆囊：位于肝脏下缘的胆囊窝，紧邻肝右叶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左心室：心腔，被心肌包裹；主动脉：位于脊椎前方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29" name="图片 52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24250" y="3267075"/>
            <a:ext cx="190500" cy="190500"/>
          </a:xfrm>
          <a:prstGeom prst="rect">
            <a:avLst/>
          </a:prstGeom>
        </p:spPr>
      </p:pic>
      <p:sp>
        <p:nvSpPr>
          <p:cNvPr id="530" name="圆角矩形 529"/>
          <p:cNvSpPr/>
          <p:nvPr/>
        </p:nvSpPr>
        <p:spPr>
          <a:xfrm>
            <a:off x="381000" y="3467100"/>
            <a:ext cx="6477000" cy="55245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531" name="文本框 530" descr="{&quot;isTemplate&quot;:true,&quot;type&quot;:&quot;text&quot;}"/>
          <p:cNvSpPr txBox="1"/>
          <p:nvPr/>
        </p:nvSpPr>
        <p:spPr>
          <a:xfrm>
            <a:off x="552450" y="3514725"/>
            <a:ext cx="61341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BioClinicalBERT · </a:t>
            </a:r>
            <a:r>
              <a:rPr lang="zh-CN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预训练医学文本编码器</a:t>
            </a:r>
            <a:endParaRPr lang="zh-CN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2" name="文本框 531" descr="{&quot;isTemplate&quot;:true,&quot;type&quot;:&quot;text&quot;}"/>
          <p:cNvSpPr txBox="1"/>
          <p:nvPr/>
        </p:nvSpPr>
        <p:spPr>
          <a:xfrm>
            <a:off x="552450" y="3762375"/>
            <a:ext cx="6134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让「胆囊窝」这类术语落在有意义的向量位置上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33" name="图片 53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24250" y="4029075"/>
            <a:ext cx="190500" cy="190500"/>
          </a:xfrm>
          <a:prstGeom prst="rect">
            <a:avLst/>
          </a:prstGeom>
        </p:spPr>
      </p:pic>
      <p:sp>
        <p:nvSpPr>
          <p:cNvPr id="534" name="圆角矩形 533"/>
          <p:cNvSpPr/>
          <p:nvPr/>
        </p:nvSpPr>
        <p:spPr>
          <a:xfrm>
            <a:off x="381000" y="4229100"/>
            <a:ext cx="6477000" cy="55245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35" name="文本框 534" descr="{&quot;isTemplate&quot;:true,&quot;type&quot;:&quot;text&quot;}"/>
          <p:cNvSpPr txBox="1"/>
          <p:nvPr/>
        </p:nvSpPr>
        <p:spPr>
          <a:xfrm>
            <a:off x="552450" y="4276725"/>
            <a:ext cx="61341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线性层映射到</a:t>
            </a:r>
            <a:r>
              <a:rPr lang="en-US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d </a:t>
            </a:r>
            <a:r>
              <a:rPr lang="zh-CN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维</a:t>
            </a:r>
            <a:endParaRPr lang="zh-CN" sz="112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6" name="文本框 535" descr="{&quot;isTemplate&quot;:true,&quot;type&quot;:&quot;text&quot;}"/>
          <p:cNvSpPr txBox="1"/>
          <p:nvPr/>
        </p:nvSpPr>
        <p:spPr>
          <a:xfrm>
            <a:off x="552450" y="4524375"/>
            <a:ext cx="6134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DINOv2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特征维度对齐，可直接参与注意力计算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37" name="图片 53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250" y="4791075"/>
            <a:ext cx="190500" cy="190500"/>
          </a:xfrm>
          <a:prstGeom prst="rect">
            <a:avLst/>
          </a:prstGeom>
        </p:spPr>
      </p:pic>
      <p:sp>
        <p:nvSpPr>
          <p:cNvPr id="538" name="圆角矩形 537"/>
          <p:cNvSpPr/>
          <p:nvPr/>
        </p:nvSpPr>
        <p:spPr>
          <a:xfrm>
            <a:off x="381000" y="4991100"/>
            <a:ext cx="6477000" cy="723900"/>
          </a:xfrm>
          <a:prstGeom prst="roundRect">
            <a:avLst>
              <a:gd name="adj" fmla="val 3947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539" name="文本框 538" descr="{&quot;isTemplate&quot;:true,&quot;type&quot;:&quot;text&quot;}"/>
          <p:cNvSpPr txBox="1"/>
          <p:nvPr/>
        </p:nvSpPr>
        <p:spPr>
          <a:xfrm>
            <a:off x="552450" y="5124450"/>
            <a:ext cx="54673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解剖语义嵌入矩阵</a:t>
            </a: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S</a:t>
            </a:r>
            <a:endParaRPr lang="en-US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0" name="文本框 539" descr="{&quot;isTemplate&quot;:true,&quot;type&quot;:&quot;text&quot;}"/>
          <p:cNvSpPr txBox="1"/>
          <p:nvPr/>
        </p:nvSpPr>
        <p:spPr>
          <a:xfrm>
            <a:off x="552450" y="5372100"/>
            <a:ext cx="5467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C9D8EF"/>
                </a:solidFill>
                <a:latin typeface="微软雅黑" panose="020B0503020204020204" charset="-122"/>
                <a:ea typeface="微软雅黑" panose="020B0503020204020204" charset="-122"/>
              </a:rPr>
              <a:t>每行对应一个类别，每列对应一个特征维度</a:t>
            </a:r>
            <a:endParaRPr lang="zh-CN" sz="900">
              <a:solidFill>
                <a:srgbClr val="C9D8E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1" name="文本框 540" descr="{&quot;isTemplate&quot;:true,&quot;type&quot;:&quot;text&quot;}"/>
          <p:cNvSpPr txBox="1"/>
          <p:nvPr/>
        </p:nvSpPr>
        <p:spPr>
          <a:xfrm>
            <a:off x="6019800" y="5219700"/>
            <a:ext cx="6667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 spc="75">
                <a:solidFill>
                  <a:srgbClr val="FFC107"/>
                </a:solidFill>
                <a:latin typeface="微软雅黑" panose="020B0503020204020204" charset="-122"/>
                <a:ea typeface="微软雅黑" panose="020B0503020204020204" charset="-122"/>
              </a:rPr>
              <a:t>C × d</a:t>
            </a:r>
            <a:endParaRPr lang="en-US" sz="1800" b="1" spc="75">
              <a:solidFill>
                <a:srgbClr val="FFC10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2" name="文本框 541" descr="{&quot;isTemplate&quot;:true,&quot;type&quot;:&quot;text&quot;}"/>
          <p:cNvSpPr txBox="1"/>
          <p:nvPr/>
        </p:nvSpPr>
        <p:spPr>
          <a:xfrm>
            <a:off x="7239000" y="1009650"/>
            <a:ext cx="45720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设计取舍</a:t>
            </a:r>
            <a:endParaRPr lang="zh-CN" sz="900" b="1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3" name="文本框 542" descr="{&quot;isTemplate&quot;:true,&quot;type&quot;:&quot;text&quot;}"/>
          <p:cNvSpPr txBox="1"/>
          <p:nvPr/>
        </p:nvSpPr>
        <p:spPr>
          <a:xfrm>
            <a:off x="7239000" y="1228725"/>
            <a:ext cx="4572000" cy="352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为什么不直接学一个类别向量？</a:t>
            </a:r>
            <a:endParaRPr 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4" name="文本框 543" descr="{&quot;isTemplate&quot;:true,&quot;type&quot;:&quot;text&quot;}"/>
          <p:cNvSpPr txBox="1"/>
          <p:nvPr/>
        </p:nvSpPr>
        <p:spPr>
          <a:xfrm>
            <a:off x="7239000" y="1695450"/>
            <a:ext cx="4572000" cy="1257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纯可学习的类别向量只能记住「这类东西长什么样」，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却记不住「它通常出现在哪、和谁相邻」。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而空间关系在医学图像里高度稳定——胆囊几乎总在肝下缘，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左心室总被心肌包裹。把它写进文本模板，等于把这些规律从数据里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提前搬到参数里。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5" name="任意多边形 544"/>
          <p:cNvSpPr/>
          <p:nvPr/>
        </p:nvSpPr>
        <p:spPr>
          <a:xfrm>
            <a:off x="7239000" y="3124200"/>
            <a:ext cx="4572000" cy="19050"/>
          </a:xfrm>
          <a:custGeom>
            <a:avLst/>
            <a:gdLst/>
            <a:ahLst/>
            <a:cxnLst/>
            <a:pathLst>
              <a:path w="480" h="2">
                <a:moveTo>
                  <a:pt x="0" y="0"/>
                </a:moveTo>
                <a:lnTo>
                  <a:pt x="480" y="0"/>
                </a:lnTo>
                <a:lnTo>
                  <a:pt x="4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546" name="文本框 545" descr="{&quot;isTemplate&quot;:true,&quot;type&quot;:&quot;text&quot;}"/>
          <p:cNvSpPr txBox="1"/>
          <p:nvPr/>
        </p:nvSpPr>
        <p:spPr>
          <a:xfrm>
            <a:off x="7239000" y="3267075"/>
            <a:ext cx="1714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9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7" name="文本框 546" descr="{&quot;isTemplate&quot;:true,&quot;type&quot;:&quot;text&quot;}"/>
          <p:cNvSpPr txBox="1"/>
          <p:nvPr/>
        </p:nvSpPr>
        <p:spPr>
          <a:xfrm>
            <a:off x="7505700" y="3267075"/>
            <a:ext cx="43053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模板只需写一次，与数据集类别表同步维护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8" name="文本框 547" descr="{&quot;isTemplate&quot;:true,&quot;type&quot;:&quot;text&quot;}"/>
          <p:cNvSpPr txBox="1"/>
          <p:nvPr/>
        </p:nvSpPr>
        <p:spPr>
          <a:xfrm>
            <a:off x="7239000" y="3562350"/>
            <a:ext cx="1714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9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9" name="文本框 548" descr="{&quot;isTemplate&quot;:true,&quot;type&quot;:&quot;text&quot;}"/>
          <p:cNvSpPr txBox="1"/>
          <p:nvPr/>
        </p:nvSpPr>
        <p:spPr>
          <a:xfrm>
            <a:off x="7505700" y="3562350"/>
            <a:ext cx="43053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编码器冻结，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S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可在训练前离线算好并缓存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0" name="文本框 549" descr="{&quot;isTemplate&quot;:true,&quot;type&quot;:&quot;text&quot;}"/>
          <p:cNvSpPr txBox="1"/>
          <p:nvPr/>
        </p:nvSpPr>
        <p:spPr>
          <a:xfrm>
            <a:off x="7239000" y="3857625"/>
            <a:ext cx="1714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9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1" name="文本框 550" descr="{&quot;isTemplate&quot;:true,&quot;type&quot;:&quot;text&quot;}"/>
          <p:cNvSpPr txBox="1"/>
          <p:nvPr/>
        </p:nvSpPr>
        <p:spPr>
          <a:xfrm>
            <a:off x="7505700" y="3857625"/>
            <a:ext cx="43053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映射层可训练，让语义空间向视觉特征空间靠拢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2" name="圆角矩形 551"/>
          <p:cNvSpPr/>
          <p:nvPr/>
        </p:nvSpPr>
        <p:spPr>
          <a:xfrm>
            <a:off x="7239000" y="4248150"/>
            <a:ext cx="4572000" cy="1028700"/>
          </a:xfrm>
          <a:prstGeom prst="roundRect">
            <a:avLst>
              <a:gd name="adj" fmla="val 277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53" name="文本框 552" descr="{&quot;isTemplate&quot;:true,&quot;type&quot;:&quot;text&quot;}"/>
          <p:cNvSpPr txBox="1"/>
          <p:nvPr/>
        </p:nvSpPr>
        <p:spPr>
          <a:xfrm>
            <a:off x="7391400" y="4343400"/>
            <a:ext cx="4267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S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的形状：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C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行（类别）×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d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列（特征维）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54" name="图片 55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1400" y="4629150"/>
            <a:ext cx="2400300" cy="552450"/>
          </a:xfrm>
          <a:prstGeom prst="rect">
            <a:avLst/>
          </a:prstGeom>
        </p:spPr>
      </p:pic>
      <p:sp>
        <p:nvSpPr>
          <p:cNvPr id="555" name="圆角矩形 554"/>
          <p:cNvSpPr/>
          <p:nvPr/>
        </p:nvSpPr>
        <p:spPr>
          <a:xfrm>
            <a:off x="7239000" y="5362575"/>
            <a:ext cx="4572000" cy="733425"/>
          </a:xfrm>
          <a:prstGeom prst="roundRect">
            <a:avLst>
              <a:gd name="adj" fmla="val 389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56" name="文本框 555" descr="{&quot;isTemplate&quot;:true,&quot;type&quot;:&quot;text&quot;}"/>
          <p:cNvSpPr txBox="1"/>
          <p:nvPr/>
        </p:nvSpPr>
        <p:spPr>
          <a:xfrm>
            <a:off x="7391400" y="5457825"/>
            <a:ext cx="4267200" cy="542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说明：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这一步只产出「语义」，还没用到共现统计；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空间上的强弱关系由步骤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的条件概率补上。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7" name="文本框 556" descr="{&quot;isTemplate&quot;:true,&quot;type&quot;:&quot;text&quot;}"/>
          <p:cNvSpPr txBox="1"/>
          <p:nvPr/>
        </p:nvSpPr>
        <p:spPr>
          <a:xfrm>
            <a:off x="381000" y="6334125"/>
            <a:ext cx="1390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ASEE · 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解剖语义增强编码</a:t>
            </a:r>
            <a:endParaRPr lang="zh-CN" sz="9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8" name="文本框 557" descr="{&quot;isTemplate&quot;:true,&quot;type&quot;:&quot;text&quot;}"/>
          <p:cNvSpPr txBox="1"/>
          <p:nvPr/>
        </p:nvSpPr>
        <p:spPr>
          <a:xfrm>
            <a:off x="11315700" y="6324600"/>
            <a:ext cx="180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9" name="文本框 558" descr="{&quot;isTemplate&quot;:true,&quot;type&quot;:&quot;text&quot;}"/>
          <p:cNvSpPr txBox="1"/>
          <p:nvPr/>
        </p:nvSpPr>
        <p:spPr>
          <a:xfrm>
            <a:off x="11496675" y="6324600"/>
            <a:ext cx="3143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/ 14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 descr="&lt;Slide style={{ width: 1280, height: 720, padding: 0, background: '#FFFFFF' }}&gt;&#13;&#10;    &lt;Box style={{ position: 'relative', width: 1280, height: 720 }}&gt;&#13;&#10;&#13;&#10;        &lt;Box style={{ position: 'absolute', left: 0, top: 0, width: 1280, height: 8, background: '#1E4FA8' }} /&gt;&#13;&#10;&#13;&#10;        {/* 页眉 */}&#13;&#10;        &lt;Box style={{ position: 'absolute', left: 40, top: 22, width: 1200, height: 60, flexDirection: 'row', alignItems: 'center' }}&gt;&#13;&#10;            &lt;Box&gt;&#13;&#10;                &lt;Text style={{ fontSize: 12, color: '#3D7BD9', letterSpacing: 1.5 }}&gt;02 / 方法设计 · 步骤 2&lt;/Text&gt;&#13;&#10;                &lt;Box style={{ height: 4 }} /&gt;&#13;&#10;                &lt;Text style={{ fontSize: 32, fontWeight: 'bold', color: '#0E3F8C', letterSpacing: 0.5 }}&gt;把「谁和谁一起出现」变成对数比&lt;/Text&gt;&#13;&#10;            &lt;/Box&gt;&#13;&#10;            &lt;Box style={{ flex: 1 }} /&gt;&#13;&#10;            &lt;Box style={{ background: '#E8EFF8', borderRadius: 3, padding: '6px 14px' }}&gt;&#13;&#10;                &lt;Text style={{ fontSize: 12, color: '#1E4FA8', fontWeight: 'bold', letterSpacing: 1 }}&gt;步骤 2 / 条件概率 CP&lt;/Text&gt;&#13;&#10;            &lt;/Box&gt;&#13;&#10;        &lt;/Box&gt;&#13;&#10;        &lt;Box style={{ position: 'absolute', left: 40, top: 92, width: 1200, height: 1, background: '#D6DCE5' }} /&gt;&#13;&#10;&#13;&#10;        {/* 左：推导 */}&#13;&#10;        &lt;Box style={{ position: 'absolute', left: 40, top: 106, width: 440, height: 534 }}&gt;&#13;&#10;&#13;&#10;            &lt;Text style={{ fontSize: 12, color: '#1E4FA8', fontWeight: 'bold', letterSpacing: 1 }}&gt;推导三步&lt;/Text&gt;&#13;&#10;            &lt;Box style={{ height: 12 }} /&gt;&#13;&#10;&#13;&#10;            &lt;Box style={{ background: '#FFFFFF', border: '1px solid #D6DCE5', borderRadius: 3, padding: '12px 16px' }}&gt;&#13;&#10;                &lt;Text style={{ fontSize: 14, fontWeight: 'bold', color: '#1A2230', lineHeight: 1.5 }}&gt;① 训练集上统计两个量&lt;/Text&gt;&#13;&#10;                &lt;Box style={{ height: 6 }} /&gt;&#13;&#10;                &lt;Text style={{ fontSize: 13, color: '#4A5568', lineHeight: 1.8 }}&gt;&#13;&#10;                    类别出现频率 P(K_j)，以及类别 i 出现时 j 出现的条件频率 P(K_j | S_i)。&#13;&#10;                &lt;/Text&gt;&#13;&#10;            &lt;/Box&gt;&#13;&#10;&#13;&#10;            &lt;Box style={{ height: 10 }} /&gt;&#13;&#10;&#13;&#10;            &lt;Box style={{ background: '#F0F5FC', border: '1px solid #C6D7EE', borderRadius: 3, padding: '12px 16px' }}&gt;&#13;&#10;                &lt;Text style={{ fontSize: 14, fontWeight: 'bold', color: '#0E3F8C', lineHeight: 1.5 }}&gt;② 取对数比，得到关联强度&lt;/Text&gt;&#13;&#10;                &lt;Box style={{ height: 8 }} /&gt;&#13;&#10;                &lt;Box style={{ background: '#FFFFFF', borderRadius: 2, padding: '8px 10px' }}&gt;&#13;&#10;                    &lt;Text style={{ fontSize: 13, color: '#1A2230', lineHeight: 1.7 }}&gt;M(i,j) = log[ ( P(K_j | S_i) + ε )&lt;/Text&gt;&#13;&#10;                    &lt;Text style={{ fontSize: 13, color: '#1A2230', lineHeight: 1.7 }}&gt;　　　　　/ ( P(K_j) + ε ) ]&lt;/Text&gt;&#13;&#10;                &lt;/Box&gt;&#13;&#10;                &lt;Box style={{ height: 8 }} /&gt;&#13;&#10;                &lt;Text style={{ fontSize: 13, color: '#4A5568', lineHeight: 1.8 }}&gt;&#13;&#10;                    正 = 比偶然共现更强，负 = 被先验预期压制。&#13;&#10;                &lt;/Text&gt;&#13;&#10;            &lt;/Box&gt;&#13;&#10;&#13;&#10;            &lt;Box style={{ height: 10 }} /&gt;&#13;&#10;&#13;&#10;            &lt;Box style={{ background: '#FFFFFF', border: '1px solid #D6DCE5', borderRadius: 3, padding: '12px 16px' }}&gt;&#13;&#10;                &lt;Text style={{ fontSize: 14, fontWeight: 'bold', color: '#1A2230', lineHeight: 1.5 }}&gt;③ 轻量 MLP 映射到 d 维&lt;/Text&gt;&#13;&#10;                &lt;Box style={{ height: 6 }} /&gt;&#13;&#10;                &lt;Text style={{ fontSize: 13, color: '#1A2230', lineHeight: 1.8 }}&gt;CP = MLP(M)，CP ∈ R^(C×d)&lt;/Text&gt;&#13;&#10;            &lt;/Box&gt;&#13;&#10;&#13;&#10;            &lt;Box style={{ flex: 1 }} /&gt;&#13;&#10;&#13;&#10;            &lt;Box style={{ background: '#0E3F8C', borderRadius: 3, padding: '12px 16px' }}&gt;&#13;&#10;                &lt;Text style={{ fontSize: 12, color: '#9DB8E0', letterSpacing: 1 }}&gt;融合&lt;/Text&gt;&#13;&#10;                &lt;Box style={{ height: 4 }} /&gt;&#13;&#10;                &lt;Text style={{ fontSize: 15, fontWeight: 'bold', color: '#FFFFFF', lineHeight: 1.6 }}&gt;&#13;&#10;                    E_prior = S ⊕ CP&#13;&#10;                &lt;/Text&gt;&#13;&#10;            &lt;/Box&gt;&#13;&#10;        &lt;/Box&gt;&#13;&#10;&#13;&#10;        {/* 右：矩阵 */}&#13;&#10;        &lt;Box style={{ position: 'absolute', left: 540, top: 106, width: 700, height: 534 }}&gt;&#13;&#10;&#13;&#10;            &lt;Text style={{ fontSize: 12, color: '#1E4FA8', fontWeight: 'bold', letterSpacing: 1 }}&gt;对数比矩阵 M 的形状示意&lt;/Text&gt;&#13;&#10;            &lt;Box style={{ height: 6 }} /&gt;&#13;&#10;            &lt;Text style={{ fontSize: 13, color: '#8B97A8', lineHeight: 1.6 }}&gt;行为条件类别 S_i，列为被条件类别 K_j；颜色越深表示关联越强&lt;/Text&gt;&#13;&#10;            &lt;Box style={{ height: 10 }} /&gt;&#13;&#10;&#13;&#10;            &lt;Box style={{ position: 'relative', width: 700, height: 388 }}&gt;&#13;&#10;                {/* 列标签 */}&#13;&#10;                &lt;Box style={{ position: 'absolute', left: 78, top: 0, width: 352, flexDirection: 'row' }}&gt;&#13;&#10;                    &lt;Text style={{ width: 44, fontSize: 11, color: '#4A5568', textAlign: 'center' }}&gt;肝&lt;/Text&gt;&#13;&#10;                    &lt;Text style={{ width: 44, fontSize: 11, color: '#4A5568', textAlign: 'center' }}&gt;胆&lt;/Text&gt;&#13;&#10;                    &lt;Text style={{ width: 44, fontSize: 11, color: '#4A5568', textAlign: 'center' }}&gt;胰&lt;/Text&gt;&#13;&#10;                    &lt;Text style={{ width: 44, fontSize: 11, color: '#4A5568', textAlign: 'center' }}&gt;脾&lt;/Text&gt;&#13;&#10;                    &lt;Text style={{ width: 44, fontSize: 11, color: '#4A5568', textAlign: 'center' }}&gt;胃&lt;/Text&gt;&#13;&#10;                    &lt;Text style={{ width: 44, fontSize: 11, color: '#4A5568', textAlign: 'center' }}&gt;肾&lt;/Text&gt;&#13;&#10;                    &lt;Text style={{ width: 44, fontSize: 11, color: '#4A5568', textAlign: 'center' }}&gt;主动脉&lt;/Text&gt;&#13;&#10;                    &lt;Text style={{ width: 44, fontSize: 11, color: '#4A5568', textAlign: 'center' }}&gt;腔静脉&lt;/Text&gt;&#13;&#10;                &lt;/Box&gt;&#13;&#10;&#13;&#10;                {/* 行标签 */}&#13;&#10;                &lt;Box style={{ position: 'absolute', left: 0, top: 26, width: 74 }}&gt;&#13;&#10;                    &lt;Box style={{ height: 44, justifyContent: 'center' }}&gt;&lt;Text style={{ fontSize: 11, color: '#4A5568' }}&gt;肝脏&lt;/Text&gt;&lt;/Box&gt;&#13;&#10;                    &lt;Box style={{ height: 44, justifyContent: 'center' }}&gt;&lt;Text style={{ fontSize: 11, color: '#1E4FA8', fontWeight: 'bold' }}&gt;胆囊&lt;/Text&gt;&lt;/Box&gt;&#13;&#10;                    &lt;Box style={{ height: 44, justifyContent: 'center' }}&gt;&lt;Text style={{ fontSize: 11, color: '#4A5568' }}&gt;胰腺&lt;/Text&gt;&lt;/Box&gt;&#13;&#10;                    &lt;Box style={{ height: 44, justifyContent: 'center' }}&gt;&lt;Text style={{ fontSize: 11, color: '#4A5568' }}&gt;脾脏&lt;/Text&gt;&lt;/Box&gt;&#13;&#10;                    &lt;Box style={{ height: 44, justifyContent: 'center' }}&gt;&lt;Text style={{ fontSize: 11, color: '#4A5568' }}&gt;胃&lt;/Text&gt;&lt;/Box&gt;&#13;&#10;                    &lt;Box style={{ height: 44, justifyContent: 'center' }}&gt;&lt;Text style={{ fontSize: 11, color: '#4A5568' }}&gt;肾脏&lt;/Text&gt;&lt;/Box&gt;&#13;&#10;                    &lt;Box style={{ height: 44, justifyContent: 'center' }}&gt;&lt;Text style={{ fontSize: 11, color: '#4A5568' }}&gt;主动脉&lt;/Text&gt;&lt;/Box&gt;&#13;&#10;                    &lt;Box style={{ height: 44, justifyContent: 'center' }}&gt;&lt;Text style={{ fontSize: 11, color: '#4A5568' }}&gt;腔静脉&lt;/Text&gt;&lt;/Box&gt;&#13;&#10;                &lt;/Box&gt;&#13;&#10;&#13;&#10;                &lt;Box style={{ position: 'absolute', left: 78, top: 26 }}&gt;&#13;&#10;                    &lt;svg width={352} height={352} viewBox='0 0 352 352'&gt;&#13;&#10;                        {[&#13;&#10;                            4, 2, 1, 1, 2, 0, 2, 1,&#13;&#10;                            2, 4, 3, 1, 1, 0, 1, 1,&#13;&#10;                            2, 3, 4, 1, 2, 0, 1, 1,&#13;&#10;                            1, 1, 1, 4, 1, 0, 2, 1,&#13;&#10;                            2, 1, 2, 1, 4, 0, 1, 1,&#13;&#10;                            0, 0, 0, 1, 0, 4, 2, 2,&#13;&#10;                            2, 1, 1, 2, 1, 2, 4, 3,&#13;&#10;                            1, 1, 1, 1, 1, 2, 3, 4&#13;&#10;                        ].map((v, i) =&gt; (&#13;&#10;                            &lt;rect&#13;&#10;                                key={'m' + i}&#13;&#10;                                x={(i % 8) * 44 + 1}&#13;&#10;                                y={Math.floor(i / 8) * 44 + 1}&#13;&#10;                                width={42}&#13;&#10;                                height={42}&#13;&#10;                                rx={2}&#13;&#10;                                fill={['#F0F5FC', '#DCE7F5', '#9CB6DC', '#3D7BD9', '#1E4FA8'][v]}&#13;&#10;                            /&gt;&#13;&#10;                        ))}&#13;&#10;                    &lt;/svg&gt;&#13;&#10;                &lt;/Box&gt;&#13;&#10;            &lt;/Box&gt;&#13;&#10;&#13;&#10;            {/* 图例 */}&#13;&#10;            &lt;Box style={{ flexDirection: 'row', alignItems: 'center', gap: 8 }}&gt;&#13;&#10;                &lt;Text style={{ fontSize: 11, color: '#8B97A8' }}&gt;弱&lt;/Text&gt;&#13;&#10;                &lt;Box style={{ width: 18, height: 12, background: '#F0F5FC', border: '1px solid #E5E7EB' }} /&gt;&#13;&#10;                &lt;Box style={{ width: 18, height: 12, background: '#DCE7F5' }} /&gt;&#13;&#10;                &lt;Box style={{ width: 18, height: 12, background: '#9CB6DC' }} /&gt;&#13;&#10;                &lt;Box style={{ width: 18, height: 12, background: '#3D7BD9' }} /&gt;&#13;&#10;                &lt;Box style={{ width: 18, height: 12, background: '#1E4FA8' }} /&gt;&#13;&#10;                &lt;Text style={{ fontSize: 11, color: '#8B97A8' }}&gt;强&lt;/Text&gt;&#13;&#10;                &lt;Box style={{ width: 16 }} /&gt;&#13;&#10;                &lt;Text style={{ fontSize: 11, color: '#8B97A8', lineHeight: 1.5 }}&gt;&#13;&#10;                    示意图，非实测数据；对角线的强关联来自类别自身的共现&#13;&#10;                &lt;/Text&gt;&#13;&#10;            &lt;/Box&gt;&#13;&#10;        &lt;/Box&gt;&#13;&#10;&#13;&#10;        {/* 页脚 */}&#13;&#10;        &lt;Box style={{ position: 'absolute', left: 40, top: 664, width: 1200, flexDirection: 'row', alignItems: 'center' }}&gt;&#13;&#10;            &lt;Text style={{ fontSize: 13, color: '#8B97A8' }}&gt;ASEE · 解剖语义增强编码&lt;/Text&gt;&#13;&#10;            &lt;Box style={{ flex: 1 }} /&gt;&#13;&#10;            &lt;Text style={{ fontSize: 15, fontWeight: 'bold', color: '#1E4FA8' }}&gt;10&lt;/Text&gt;&#13;&#10;            &lt;Text style={{ fontSize: 15, color: '#8B97A8' }}&gt; / 14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8" name="矩形 3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381000" y="219075"/>
            <a:ext cx="4648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02 / </a:t>
            </a:r>
            <a:r>
              <a:rPr lang="zh-CN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方法设计</a:t>
            </a:r>
            <a:r>
              <a:rPr lang="en-US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步骤</a:t>
            </a:r>
            <a:r>
              <a:rPr lang="en-US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 2</a:t>
            </a:r>
            <a:endParaRPr lang="en-US" sz="900" spc="113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381000" y="400050"/>
            <a:ext cx="46482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把「谁和谁一起出现」变成对数比</a:t>
            </a:r>
            <a:endParaRPr lang="zh-CN" sz="2400" b="1" spc="38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10306050" y="371475"/>
            <a:ext cx="1504950" cy="257175"/>
          </a:xfrm>
          <a:prstGeom prst="roundRect">
            <a:avLst>
              <a:gd name="adj" fmla="val 11111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10439400" y="428625"/>
            <a:ext cx="12382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步骤</a:t>
            </a:r>
            <a:r>
              <a:rPr lang="en-US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 2 / </a:t>
            </a: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条件概率</a:t>
            </a:r>
            <a:r>
              <a:rPr lang="en-US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 CP</a:t>
            </a:r>
            <a:endParaRPr lang="en-US" sz="900" b="1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81000" y="876300"/>
            <a:ext cx="11430000" cy="9525"/>
          </a:xfrm>
          <a:prstGeom prst="rect">
            <a:avLst/>
          </a:prstGeom>
          <a:solidFill>
            <a:srgbClr val="D6DCE5"/>
          </a:solidFill>
        </p:spPr>
        <p:txBody>
          <a:bodyPr/>
          <a:p/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381000" y="1009650"/>
            <a:ext cx="41910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推导三步</a:t>
            </a:r>
            <a:endParaRPr lang="zh-CN" sz="900" b="1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381000" y="1266825"/>
            <a:ext cx="4191000" cy="1076325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533400" y="1381125"/>
            <a:ext cx="38862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训练集上统计两个量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533400" y="1685925"/>
            <a:ext cx="3886200" cy="542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类别出现频率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P(K_j)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，以及类别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i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出现时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j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出现的条件频率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P(K_j | S_i)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381000" y="2438400"/>
            <a:ext cx="4191000" cy="1571625"/>
          </a:xfrm>
          <a:prstGeom prst="roundRect">
            <a:avLst>
              <a:gd name="adj" fmla="val 1818"/>
            </a:avLst>
          </a:prstGeom>
          <a:solidFill>
            <a:srgbClr val="F0F5FC"/>
          </a:solidFill>
          <a:ln w="12700">
            <a:solidFill>
              <a:srgbClr val="C6D7EE"/>
            </a:solidFill>
            <a:prstDash val="solid"/>
          </a:ln>
        </p:spPr>
        <p:txBody>
          <a:bodyPr/>
          <a:p/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533400" y="2552700"/>
            <a:ext cx="38862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0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取对数比，得到关联强度</a:t>
            </a:r>
            <a:endParaRPr lang="zh-CN" sz="10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533400" y="2876550"/>
            <a:ext cx="3886200" cy="666750"/>
          </a:xfrm>
          <a:prstGeom prst="roundRect">
            <a:avLst>
              <a:gd name="adj" fmla="val 2857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628650" y="2952750"/>
            <a:ext cx="36957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M(i,j) = log[ ( P(K_j | S_i) + ε )</a:t>
            </a:r>
            <a:endParaRPr lang="en-US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628650" y="3209925"/>
            <a:ext cx="36957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　　　　　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/ ( P(K_j) + ε ) ]</a:t>
            </a:r>
            <a:endParaRPr lang="en-US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533400" y="3619500"/>
            <a:ext cx="3886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正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比偶然共现更强，负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被先验预期压制。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381000" y="4105275"/>
            <a:ext cx="4191000" cy="809625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533400" y="4219575"/>
            <a:ext cx="38862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轻量</a:t>
            </a:r>
            <a:r>
              <a:rPr lang="en-US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MLP </a:t>
            </a: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映射到</a:t>
            </a:r>
            <a:r>
              <a:rPr lang="en-US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d </a:t>
            </a: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维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533400" y="4524375"/>
            <a:ext cx="3886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CP = MLP(M)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CP ∈ R^(C×d)</a:t>
            </a:r>
            <a:endParaRPr lang="en-US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381000" y="5410200"/>
            <a:ext cx="4191000" cy="685800"/>
          </a:xfrm>
          <a:prstGeom prst="roundRect">
            <a:avLst>
              <a:gd name="adj" fmla="val 4167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533400" y="5524500"/>
            <a:ext cx="3886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9DB8E0"/>
                </a:solidFill>
                <a:latin typeface="微软雅黑" panose="020B0503020204020204" charset="-122"/>
                <a:ea typeface="微软雅黑" panose="020B0503020204020204" charset="-122"/>
              </a:rPr>
              <a:t>融合</a:t>
            </a:r>
            <a:endParaRPr lang="zh-CN" sz="900" spc="75">
              <a:solidFill>
                <a:srgbClr val="9DB8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533400" y="5705475"/>
            <a:ext cx="3886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E_prior = S ⊕ CP</a:t>
            </a:r>
            <a:endParaRPr lang="en-US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5143500" y="1009650"/>
            <a:ext cx="6667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对数比矩阵</a:t>
            </a:r>
            <a:r>
              <a:rPr lang="en-US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 M </a:t>
            </a: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的形状示意</a:t>
            </a:r>
            <a:endParaRPr lang="zh-CN" sz="900" b="1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5143500" y="1209675"/>
            <a:ext cx="66675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行为条件类别</a:t>
            </a: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S_i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，列为被条件类别</a:t>
            </a: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K_j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；颜色越深表示关联越强</a:t>
            </a:r>
            <a:endParaRPr lang="zh-CN" sz="9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5143500" y="5267325"/>
            <a:ext cx="1047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弱</a:t>
            </a:r>
            <a:endParaRPr lang="zh-CN"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324475" y="5276850"/>
            <a:ext cx="171450" cy="114300"/>
          </a:xfrm>
          <a:prstGeom prst="rect">
            <a:avLst/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4" name="矩形 63"/>
          <p:cNvSpPr/>
          <p:nvPr/>
        </p:nvSpPr>
        <p:spPr>
          <a:xfrm>
            <a:off x="5572125" y="5276850"/>
            <a:ext cx="171450" cy="114300"/>
          </a:xfrm>
          <a:prstGeom prst="rect">
            <a:avLst/>
          </a:prstGeom>
          <a:solidFill>
            <a:srgbClr val="DCE7F5"/>
          </a:solidFill>
        </p:spPr>
        <p:txBody>
          <a:bodyPr/>
          <a:p/>
        </p:txBody>
      </p:sp>
      <p:sp>
        <p:nvSpPr>
          <p:cNvPr id="65" name="矩形 64"/>
          <p:cNvSpPr/>
          <p:nvPr/>
        </p:nvSpPr>
        <p:spPr>
          <a:xfrm>
            <a:off x="5819775" y="5276850"/>
            <a:ext cx="171450" cy="114300"/>
          </a:xfrm>
          <a:prstGeom prst="rect">
            <a:avLst/>
          </a:prstGeom>
          <a:solidFill>
            <a:srgbClr val="9CB6DC"/>
          </a:solidFill>
        </p:spPr>
        <p:txBody>
          <a:bodyPr/>
          <a:p/>
        </p:txBody>
      </p:sp>
      <p:sp>
        <p:nvSpPr>
          <p:cNvPr id="66" name="矩形 65"/>
          <p:cNvSpPr/>
          <p:nvPr/>
        </p:nvSpPr>
        <p:spPr>
          <a:xfrm>
            <a:off x="6067425" y="5276850"/>
            <a:ext cx="171450" cy="11430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67" name="矩形 66"/>
          <p:cNvSpPr/>
          <p:nvPr/>
        </p:nvSpPr>
        <p:spPr>
          <a:xfrm>
            <a:off x="6315075" y="5276850"/>
            <a:ext cx="171450" cy="1143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6562725" y="5267325"/>
            <a:ext cx="1047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强</a:t>
            </a:r>
            <a:endParaRPr lang="zh-CN"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6972300" y="5238750"/>
            <a:ext cx="27241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示意图，非实测数据；对角线的强关联来自类别自身的共现</a:t>
            </a:r>
            <a:endParaRPr lang="zh-CN"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5886450" y="1543050"/>
            <a:ext cx="419100" cy="1333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肝</a:t>
            </a:r>
            <a:endParaRPr lang="zh-CN" sz="8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6305550" y="1543050"/>
            <a:ext cx="419100" cy="1333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胆</a:t>
            </a:r>
            <a:endParaRPr lang="zh-CN" sz="8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6724650" y="1543050"/>
            <a:ext cx="419100" cy="1333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胰</a:t>
            </a:r>
            <a:endParaRPr lang="zh-CN" sz="8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7143750" y="1543050"/>
            <a:ext cx="419100" cy="1333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脾</a:t>
            </a:r>
            <a:endParaRPr lang="zh-CN" sz="8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7562850" y="1543050"/>
            <a:ext cx="419100" cy="1333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胃</a:t>
            </a:r>
            <a:endParaRPr lang="zh-CN" sz="8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7981950" y="1543050"/>
            <a:ext cx="419100" cy="1333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肾</a:t>
            </a:r>
            <a:endParaRPr lang="zh-CN" sz="8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8401050" y="1543050"/>
            <a:ext cx="419100" cy="1333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主动脉</a:t>
            </a:r>
            <a:endParaRPr lang="zh-CN" sz="8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8820150" y="1543050"/>
            <a:ext cx="419100" cy="1333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腔静脉</a:t>
            </a:r>
            <a:endParaRPr lang="zh-CN" sz="8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5143500" y="1933575"/>
            <a:ext cx="7048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肝脏</a:t>
            </a:r>
            <a:endParaRPr lang="zh-CN" sz="8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5143500" y="2352675"/>
            <a:ext cx="7048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胆囊</a:t>
            </a:r>
            <a:endParaRPr lang="zh-CN" sz="8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5143500" y="2771775"/>
            <a:ext cx="7048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胰腺</a:t>
            </a:r>
            <a:endParaRPr lang="zh-CN" sz="8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5143500" y="3190875"/>
            <a:ext cx="7048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脾脏</a:t>
            </a:r>
            <a:endParaRPr lang="zh-CN" sz="8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5143500" y="3609975"/>
            <a:ext cx="7048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胃</a:t>
            </a:r>
            <a:endParaRPr lang="zh-CN" sz="8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5143500" y="4029075"/>
            <a:ext cx="7048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肾脏</a:t>
            </a:r>
            <a:endParaRPr lang="zh-CN" sz="8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5143500" y="4448175"/>
            <a:ext cx="7048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主动脉</a:t>
            </a:r>
            <a:endParaRPr lang="zh-CN" sz="8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5143500" y="4867275"/>
            <a:ext cx="7048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腔静脉</a:t>
            </a:r>
            <a:endParaRPr lang="zh-CN" sz="8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450" y="1790700"/>
            <a:ext cx="3352800" cy="3352800"/>
          </a:xfrm>
          <a:prstGeom prst="rect">
            <a:avLst/>
          </a:prstGeom>
        </p:spPr>
      </p:pic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381000" y="6334125"/>
            <a:ext cx="1390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ASEE · 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解剖语义增强编码</a:t>
            </a:r>
            <a:endParaRPr lang="zh-CN" sz="9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11315700" y="6324600"/>
            <a:ext cx="180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11496675" y="6324600"/>
            <a:ext cx="3143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/ 14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" descr="&lt;Slide style={{ width: 1280, height: 720, padding: 0, background: '#FFFFFF' }}&gt;&#13;&#10;    &lt;Box style={{ position: 'relative', width: 1280, height: 720 }}&gt;&#13;&#10;&#13;&#10;        &lt;Box style={{ position: 'absolute', left: 0, top: 0, width: 1280, height: 8, background: '#1E4FA8' }} /&gt;&#13;&#10;&#13;&#10;        {/* 页眉 */}&#13;&#10;        &lt;Box style={{ position: 'absolute', left: 40, top: 22, width: 1200, height: 60, flexDirection: 'row', alignItems: 'center' }}&gt;&#13;&#10;            &lt;Box&gt;&#13;&#10;                &lt;Text style={{ fontSize: 12, color: '#3D7BD9', letterSpacing: 1.5 }}&gt;02 / 方法设计 · 步骤 3&lt;/Text&gt;&#13;&#10;                &lt;Box style={{ height: 4 }} /&gt;&#13;&#10;                &lt;Text style={{ fontSize: 32, fontWeight: 'bold', color: '#0E3F8C', letterSpacing: 0.5 }}&gt;双向注入：一条改「看到的」，一条改「想找的」&lt;/Text&gt;&#13;&#10;            &lt;/Box&gt;&#13;&#10;            &lt;Box style={{ flex: 1 }} /&gt;&#13;&#10;            &lt;Box style={{ background: '#E8EFF8', borderRadius: 3, padding: '6px 14px' }}&gt;&#13;&#10;                &lt;Text style={{ fontSize: 12, color: '#1E4FA8', fontWeight: 'bold', letterSpacing: 1 }}&gt;步骤 3 / 双向注入&lt;/Text&gt;&#13;&#10;            &lt;/Box&gt;&#13;&#10;        &lt;/Box&gt;&#13;&#10;        &lt;Box style={{ position: 'absolute', left: 40, top: 92, width: 1200, height: 1, background: '#D6DCE5' }} /&gt;&#13;&#10;&#13;&#10;        {/* 左：注入结构 */}&#13;&#10;        &lt;Box style={{ position: 'absolute', left: 40, top: 116, width: 690, height: 420 }}&gt;&#13;&#10;&#13;&#10;            &lt;Box style={{ position: 'absolute', left: 0, top: 20, width: 168, height: 286, background: '#0E3F8C', borderRadius: 3, padding: '16px 14px' }}&gt;&#13;&#10;                &lt;Text style={{ fontSize: 11, color: '#9DB8E0', letterSpacing: 1 }}&gt;先验知识库&lt;/Text&gt;&#13;&#10;                &lt;Box style={{ height: 8 }} /&gt;&#13;&#10;                &lt;Text style={{ fontSize: 17, fontWeight: 'bold', color: '#FFFFFF', lineHeight: 1.4 }}&gt;E_prior&lt;/Text&gt;&#13;&#10;                &lt;Box style={{ height: 6 }} /&gt;&#13;&#10;                &lt;Text style={{ fontSize: 12, color: '#C9D8EF', lineHeight: 1.7 }}&gt;S ⊕ CP&#13;&#10;                    &lt;br /&gt;&#13;&#10;                    C × d&#13;&#10;                &lt;/Text&gt;&#13;&#10;                &lt;Box style={{ flex: 1 }} /&gt;&#13;&#10;                &lt;Text style={{ fontSize: 11, color: '#9DB8E0', lineHeight: 1.6 }}&gt;同一条先验，&#13;&#10;                    &lt;br /&gt;&#13;&#10;                    被两处复用&#13;&#10;                &lt;/Text&gt;&#13;&#10;            &lt;/Box&gt;&#13;&#10;&#13;&#10;            &lt;Box style={{ position: 'absolute', left: 176, top: 84, width: 40, height: 16, justifyContent: 'center' }}&gt;&#13;&#10;                &lt;svg width={34} height={14} viewBox='0 0 34 14'&gt;&#13;&#10;                    &lt;path d='M2 7 L26 7 M21 3 L26 7 L21 11' stroke='#1E4FA8' strokeWidth='1.6' fill='none' /&gt;&#13;&#10;                &lt;/svg&gt;&#13;&#10;            &lt;/Box&gt;&#13;&#10;            &lt;Box style={{ position: 'absolute', left: 176, top: 242, width: 40, height: 16, justifyContent: 'center' }}&gt;&#13;&#10;                &lt;svg width={34} height={14} viewBox='0 0 34 14'&gt;&#13;&#10;                    &lt;path d='M2 7 L26 7 M21 3 L26 7 L21 11' stroke='#1E4FA8' strokeWidth='1.6' fill='none' /&gt;&#13;&#10;                &lt;/svg&gt;&#13;&#10;            &lt;/Box&gt;&#13;&#10;&#13;&#10;            &lt;Box style={{ position: 'absolute', left: 216, top: 46, width: 232, height: 92, background: '#E8EFF8', border: '1px solid #1E4FA8', borderRadius: 3, padding: '10px 14px' }}&gt;&#13;&#10;                &lt;Text style={{ fontSize: 14, fontWeight: 'bold', color: '#0E3F8C', lineHeight: 1.4 }}&gt;Cross-Attention&lt;/Text&gt;&#13;&#10;                &lt;Box style={{ height: 4 }} /&gt;&#13;&#10;                &lt;Text style={{ fontSize: 12, color: '#4A5568', lineHeight: 1.7 }}&gt;T⁽⁰⁾ 作 Query，E_prior 作 Key / Value&lt;/Text&gt;&#13;&#10;            &lt;/Box&gt;&#13;&#10;&#13;&#10;            &lt;Box style={{ position: 'absolute', left: 216, top: 204, width: 232, height: 92, background: '#E8EFF8', border: '1px solid #1E4FA8', borderRadius: 3, padding: '10px 14px' }}&gt;&#13;&#10;                &lt;Text style={{ fontSize: 14, fontWeight: 'bold', color: '#0E3F8C', lineHeight: 1.4 }}&gt;＋ MLP_proj(E_prior)&lt;/Text&gt;&#13;&#10;                &lt;Box style={{ height: 4 }} /&gt;&#13;&#10;                &lt;Text style={{ fontSize: 12, color: '#4A5568', lineHeight: 1.7 }}&gt;与 Q_init 相加，而非替换&lt;/Text&gt;&#13;&#10;            &lt;/Box&gt;&#13;&#10;&#13;&#10;            &lt;Box style={{ position: 'absolute', left: 452, top: 46, width: 34, height: 92, justifyContent: 'center' }}&gt;&#13;&#10;                &lt;svg width={26} height={14} viewBox='0 0 26 14'&gt;&#13;&#10;                    &lt;path d='M2 7 L20 7 M15 3 L20 7 L15 11' stroke='#9CB6DC' strokeWidth='1.6' fill='none' /&gt;&#13;&#10;                &lt;/svg&gt;&#13;&#10;            &lt;/Box&gt;&#13;&#10;            &lt;Box style={{ position: 'absolute', left: 452, top: 204, width: 34, height: 92, justifyContent: 'center' }}&gt;&#13;&#10;                &lt;svg width={26} height={14} viewBox='0 0 26 14'&gt;&#13;&#10;                    &lt;path d='M2 7 L20 7 M15 3 L20 7 L15 11' stroke='#9CB6DC' strokeWidth='1.6' fill='none' /&gt;&#13;&#10;                &lt;/svg&gt;&#13;&#10;            &lt;/Box&gt;&#13;&#10;&#13;&#10;            &lt;Box style={{ position: 'absolute', left: 492, top: 46, width: 198, height: 92, background: '#FFFFFF', border: '1px solid #D6DCE5', borderLeft: '3px solid #1E4FA8', borderRadius: 3, padding: '10px 14px', justifyContent: 'center' }}&gt;&#13;&#10;                &lt;Text style={{ fontSize: 15, fontWeight: 'bold', color: '#1E4FA8', lineHeight: 1.4 }}&gt;T̃⁽⁰⁾&lt;/Text&gt;&#13;&#10;                &lt;Box style={{ height: 4 }} /&gt;&#13;&#10;                &lt;Text style={{ fontSize: 12, color: '#4A5568', lineHeight: 1.7 }}&gt;图像特征已含语义与位置&lt;/Text&gt;&#13;&#10;            &lt;/Box&gt;&#13;&#10;&#13;&#10;            &lt;Box style={{ position: 'absolute', left: 492, top: 204, width: 198, height: 92, background: '#FFFFFF', border: '1px solid #D6DCE5', borderLeft: '3px solid #1E4FA8', borderRadius: 3, padding: '10px 14px', justifyContent: 'center' }}&gt;&#13;&#10;                &lt;Text style={{ fontSize: 15, fontWeight: 'bold', color: '#1E4FA8', lineHeight: 1.4 }}&gt;Q̃⁽⁰⁾&lt;/Text&gt;&#13;&#10;                &lt;Box style={{ height: 4 }} /&gt;&#13;&#10;                &lt;Text style={{ fontSize: 12, color: '#4A5568', lineHeight: 1.7 }}&gt;查询带上了解剖起点&lt;/Text&gt;&#13;&#10;            &lt;/Box&gt;&#13;&#10;&#13;&#10;            &lt;Box style={{ position: 'absolute', left: 40, top: 342, width: 650, height: 56, background: '#F7F9FC', border: '1px dashed #9CB6DC', borderRadius: 3, padding: '0 18px', flexDirection: 'row', alignItems: 'center' }}&gt;&#13;&#10;                &lt;Text style={{ fontSize: 14, color: '#1A2230', lineHeight: 1.5 }}&gt;&#13;&#10;                    Z⁽⁰⁾ = Concat(Q̃⁽⁰⁾, T̃⁽⁰⁾) → 进入最后 3 个 Transformer Block&#13;&#10;                &lt;/Text&gt;&#13;&#10;                &lt;Box style={{ flex: 1 }} /&gt;&#13;&#10;                &lt;Text style={{ fontSize: 12, color: '#8B97A8' }}&gt;后续逻辑不变&lt;/Text&gt;&#13;&#10;            &lt;/Box&gt;&#13;&#10;        &lt;/Box&gt;&#13;&#10;&#13;&#10;        {/* 左下：对比说明 */}&#13;&#10;        &lt;Box style={{ position: 'absolute', left: 40, top: 548, width: 690, height: 96, background: '#F0F5FC', borderRadius: 3, padding: '12px 18px' }}&gt;&#13;&#10;            &lt;Text style={{ fontSize: 12, color: '#1E4FA8', fontWeight: 'bold', letterSpacing: 1 }}&gt;注入前后的差别&lt;/Text&gt;&#13;&#10;            &lt;Box style={{ height: 6 }} /&gt;&#13;&#10;            &lt;Text style={{ fontSize: 13, color: '#1A2230', lineHeight: 1.8 }}&gt;&#13;&#10;                原版：Query 从零信息出发，先学「大概是什么」再学「具体在哪」；&#13;&#10;                增强后：起点已带类别方向，收敛路径被缩短，小器官不必等到后期才被选中。&#13;&#10;            &lt;/Text&gt;&#13;&#10;        &lt;/Box&gt;&#13;&#10;&#13;&#10;        {/* 右：公式 */}&#13;&#10;        &lt;Box style={{ position: 'absolute', left: 780, top: 116, width: 460, height: 524 }}&gt;&#13;&#10;            &lt;Text style={{ fontSize: 12, color: '#1E4FA8', fontWeight: 'bold', letterSpacing: 1 }}&gt;对应的四行计算&lt;/Text&gt;&#13;&#10;            &lt;Box style={{ height: 10 }} /&gt;&#13;&#10;            &lt;Box style={{ background: '#F0F5FC', border: '1px solid #C6D7EE', borderRadius: 3, padding: '12px 16px' }}&gt;&#13;&#10;                &lt;Text style={{ fontSize: 13, color: '#1A2230', lineHeight: 2.05 }}&gt;L = LN( FFN(T⁽⁰⁾) + T⁽⁰⁾ )&lt;/Text&gt;&#13;&#10;                &lt;Text style={{ fontSize: 13, color: '#1A2230', lineHeight: 2.05 }}&gt;A = Softmax( L · E_priorᵀ / √d )&lt;/Text&gt;&#13;&#10;                &lt;Text style={{ fontSize: 13, color: '#1A2230', lineHeight: 2.05 }}&gt;T̃⁽⁰⁾ = LN( FFN(A·E_prior) + A·E_prior + T⁽⁰⁾ )&lt;/Text&gt;&#13;&#10;                &lt;Text style={{ fontSize: 13, color: '#1A2230', lineHeight: 2.05 }}&gt;Q̃⁽⁰⁾ = Q_init + MLP_proj( Ê_prior )&lt;/Text&gt;&#13;&#10;            &lt;/Box&gt;&#13;&#10;            &lt;Box style={{ height: 8 }} /&gt;&#13;&#10;            &lt;Text style={{ fontSize: 11, color: '#8B97A8', lineHeight: 1.7 }}&gt;&#13;&#10;                LN 为 LayerNorm，d 为特征维度；A 的每一行沿类别维做归一化&#13;&#10;            &lt;/Text&gt;&#13;&#10;&#13;&#10;            &lt;Box style={{ height: 16 }} /&gt;&#13;&#10;            &lt;Text style={{ fontSize: 14, color: '#1A2230', lineHeight: 1.95 }}&gt;&#13;&#10;                A 的物理含义是「这个 patch 该关注哪些类别」的软权重。&#13;&#10;                乘上 E_prior 后，图像特征被拉向与其位置相符的类别语义，&#13;&#10;                而不是均匀地吸收所有类别的描述。&#13;&#10;            &lt;/Text&gt;&#13;&#10;&#13;&#10;            &lt;Box style={{ height: 16 }} /&gt;&#13;&#10;            &lt;Box style={{ flexDirection: 'row', gap: 12 }}&gt;&#13;&#10;                &lt;Box style={{ flex: 1, borderTop: '2px solid #1E4FA8', paddingTop: 10 }}&gt;&#13;&#10;                    &lt;Text style={{ fontSize: 13, fontWeight: 'bold', color: '#0E3F8C', lineHeight: 1.6 }}&gt;上支路改「看到什么」&lt;/Text&gt;&#13;&#10;                    &lt;Text style={{ fontSize: 12, color: '#4A5568', lineHeight: 1.8 }}&gt;&#13;&#10;                        每个 patch 检索一遍类别先验，图像侧先获得语义上下文。&#13;&#10;                    &lt;/Text&gt;&#13;&#10;                &lt;/Box&gt;&#13;&#10;                &lt;Box style={{ flex: 1, borderTop: '2px solid #3D7BD9', paddingTop: 10 }}&gt;&#13;&#10;                    &lt;Text style={{ fontSize: 13, fontWeight: 'bold', color: '#0E3F8C', lineHeight: 1.6 }}&gt;下支路改「找什么」&lt;/Text&gt;&#13;&#10;                    &lt;Text style={{ fontSize: 12, color: '#4A5568', lineHeight: 1.8 }}&gt;&#13;&#10;                        每个类别查询拿到解剖起点，减少从随机初值试错。&#13;&#10;                    &lt;/Text&gt;&#13;&#10;                &lt;/Box&gt;&#13;&#10;            &lt;/Box&gt;&#13;&#10;&#13;&#10;            &lt;Box style={{ flex: 1 }} /&gt;&#13;&#10;            &lt;Box style={{ background: '#FFFFFF', border: '1px solid #D6DCE5', borderLeft: '3px solid #D9534F', padding: '10px 14px' }}&gt;&#13;&#10;                &lt;Text style={{ fontSize: 12, color: '#4A5568', lineHeight: 1.8 }}&gt;&#13;&#10;                    &lt;span style={{ fontWeight: 'bold', color: '#D9534F' }}&gt;注意：&lt;/span&gt;&#13;&#10;                    Ê_prior 需扩展到 N_q = 2C 的 Query 序列，同一类别的两个 Query 共享同一行先验。&#13;&#10;                &lt;/Text&gt;&#13;&#10;            &lt;/Box&gt;&#13;&#10;        &lt;/Box&gt;&#13;&#10;&#13;&#10;        {/* 页脚 */}&#13;&#10;        &lt;Box style={{ position: 'absolute', left: 40, top: 664, width: 1200, flexDirection: 'row', alignItems: 'center' }}&gt;&#13;&#10;            &lt;Text style={{ fontSize: 13, color: '#8B97A8' }}&gt;ASEE · 解剖语义增强编码&lt;/Text&gt;&#13;&#10;            &lt;Box style={{ flex: 1 }} /&gt;&#13;&#10;            &lt;Text style={{ fontSize: 15, fontWeight: 'bold', color: '#1E4FA8' }}&gt;11&lt;/Text&gt;&#13;&#10;            &lt;Text style={{ fontSize: 15, color: '#8B97A8' }}&gt; / 14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矩形 9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92" name="矩形 9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381000" y="219075"/>
            <a:ext cx="68103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02 / </a:t>
            </a:r>
            <a:r>
              <a:rPr lang="zh-CN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方法设计</a:t>
            </a:r>
            <a:r>
              <a:rPr lang="en-US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步骤</a:t>
            </a:r>
            <a:r>
              <a:rPr lang="en-US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 3</a:t>
            </a:r>
            <a:endParaRPr lang="en-US" sz="900" spc="113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381000" y="400050"/>
            <a:ext cx="681037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双向注入：一条改「看到的」，一条改「想找的」</a:t>
            </a:r>
            <a:endParaRPr lang="zh-CN" sz="2400" b="1" spc="38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10525125" y="371475"/>
            <a:ext cx="1285875" cy="257175"/>
          </a:xfrm>
          <a:prstGeom prst="roundRect">
            <a:avLst>
              <a:gd name="adj" fmla="val 11111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10658475" y="428625"/>
            <a:ext cx="10191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步骤</a:t>
            </a:r>
            <a:r>
              <a:rPr lang="en-US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 3 / </a:t>
            </a: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双向注入</a:t>
            </a:r>
            <a:endParaRPr lang="zh-CN" sz="900" b="1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381000" y="876300"/>
            <a:ext cx="11430000" cy="9525"/>
          </a:xfrm>
          <a:prstGeom prst="rect">
            <a:avLst/>
          </a:prstGeom>
          <a:solidFill>
            <a:srgbClr val="D6DCE5"/>
          </a:solidFill>
        </p:spPr>
        <p:txBody>
          <a:bodyPr/>
          <a:p/>
        </p:txBody>
      </p:sp>
      <p:sp>
        <p:nvSpPr>
          <p:cNvPr id="98" name="圆角矩形 97"/>
          <p:cNvSpPr/>
          <p:nvPr/>
        </p:nvSpPr>
        <p:spPr>
          <a:xfrm>
            <a:off x="381000" y="1295400"/>
            <a:ext cx="1600200" cy="2724150"/>
          </a:xfrm>
          <a:prstGeom prst="roundRect">
            <a:avLst>
              <a:gd name="adj" fmla="val 1786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514350" y="1447800"/>
            <a:ext cx="13335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9DB8E0"/>
                </a:solidFill>
                <a:latin typeface="微软雅黑" panose="020B0503020204020204" charset="-122"/>
                <a:ea typeface="微软雅黑" panose="020B0503020204020204" charset="-122"/>
              </a:rPr>
              <a:t>先验知识库</a:t>
            </a:r>
            <a:endParaRPr lang="zh-CN" sz="825" spc="75">
              <a:solidFill>
                <a:srgbClr val="9DB8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514350" y="1657350"/>
            <a:ext cx="1333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E_prior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514350" y="1990725"/>
            <a:ext cx="1333500" cy="466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C9D8EF"/>
                </a:solidFill>
                <a:latin typeface="微软雅黑" panose="020B0503020204020204" charset="-122"/>
                <a:ea typeface="微软雅黑" panose="020B0503020204020204" charset="-122"/>
              </a:rPr>
              <a:t>S ⊕ CP</a:t>
            </a:r>
            <a:endParaRPr lang="en-US" sz="900">
              <a:solidFill>
                <a:srgbClr val="C9D8E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sz="900">
                <a:solidFill>
                  <a:srgbClr val="C9D8EF"/>
                </a:solidFill>
                <a:latin typeface="微软雅黑" panose="020B0503020204020204" charset="-122"/>
                <a:ea typeface="微软雅黑" panose="020B0503020204020204" charset="-122"/>
              </a:rPr>
              <a:t>C × d</a:t>
            </a:r>
            <a:endParaRPr lang="en-US" sz="900">
              <a:solidFill>
                <a:srgbClr val="C9D8E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514350" y="3457575"/>
            <a:ext cx="1333500" cy="4095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25">
                <a:solidFill>
                  <a:srgbClr val="9DB8E0"/>
                </a:solidFill>
                <a:latin typeface="微软雅黑" panose="020B0503020204020204" charset="-122"/>
                <a:ea typeface="微软雅黑" panose="020B0503020204020204" charset="-122"/>
              </a:rPr>
              <a:t>同一条先验，</a:t>
            </a:r>
            <a:endParaRPr lang="zh-CN" sz="825">
              <a:solidFill>
                <a:srgbClr val="9DB8E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825">
                <a:solidFill>
                  <a:srgbClr val="9DB8E0"/>
                </a:solidFill>
                <a:latin typeface="微软雅黑" panose="020B0503020204020204" charset="-122"/>
                <a:ea typeface="微软雅黑" panose="020B0503020204020204" charset="-122"/>
              </a:rPr>
              <a:t>被两处复用</a:t>
            </a:r>
            <a:endParaRPr lang="zh-CN" sz="825">
              <a:solidFill>
                <a:srgbClr val="9DB8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57400" y="1914525"/>
            <a:ext cx="323850" cy="133350"/>
          </a:xfrm>
          <a:prstGeom prst="rect">
            <a:avLst/>
          </a:prstGeom>
        </p:spPr>
      </p:pic>
      <p:pic>
        <p:nvPicPr>
          <p:cNvPr id="104" name="图片 10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57400" y="3419475"/>
            <a:ext cx="323850" cy="133350"/>
          </a:xfrm>
          <a:prstGeom prst="rect">
            <a:avLst/>
          </a:prstGeom>
        </p:spPr>
      </p:pic>
      <p:sp>
        <p:nvSpPr>
          <p:cNvPr id="105" name="圆角矩形 104"/>
          <p:cNvSpPr/>
          <p:nvPr/>
        </p:nvSpPr>
        <p:spPr>
          <a:xfrm>
            <a:off x="2438400" y="1543050"/>
            <a:ext cx="2209800" cy="876300"/>
          </a:xfrm>
          <a:prstGeom prst="roundRect">
            <a:avLst>
              <a:gd name="adj" fmla="val 3261"/>
            </a:avLst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2571750" y="1638300"/>
            <a:ext cx="1943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Cross-Attention</a:t>
            </a:r>
            <a:endParaRPr lang="en-US" sz="10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2571750" y="1905000"/>
            <a:ext cx="19431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T⁽⁰⁾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作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Query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E_prior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作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Key / Value</a:t>
            </a:r>
            <a:endParaRPr lang="en-US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圆角矩形 107"/>
          <p:cNvSpPr/>
          <p:nvPr/>
        </p:nvSpPr>
        <p:spPr>
          <a:xfrm>
            <a:off x="2438400" y="3048000"/>
            <a:ext cx="2209800" cy="876300"/>
          </a:xfrm>
          <a:prstGeom prst="roundRect">
            <a:avLst>
              <a:gd name="adj" fmla="val 3261"/>
            </a:avLst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2571750" y="3143250"/>
            <a:ext cx="1943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＋</a:t>
            </a:r>
            <a:r>
              <a:rPr lang="en-US" sz="10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MLP_proj(E_prior)</a:t>
            </a:r>
            <a:endParaRPr lang="en-US" sz="10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2571750" y="3409950"/>
            <a:ext cx="1943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Q_init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相加，而非替换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1" name="图片 1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6300" y="1914525"/>
            <a:ext cx="247650" cy="133350"/>
          </a:xfrm>
          <a:prstGeom prst="rect">
            <a:avLst/>
          </a:prstGeom>
        </p:spPr>
      </p:pic>
      <p:pic>
        <p:nvPicPr>
          <p:cNvPr id="112" name="图片 1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6300" y="3419475"/>
            <a:ext cx="247650" cy="133350"/>
          </a:xfrm>
          <a:prstGeom prst="rect">
            <a:avLst/>
          </a:prstGeom>
        </p:spPr>
      </p:pic>
      <p:sp>
        <p:nvSpPr>
          <p:cNvPr id="113" name="圆角矩形 112"/>
          <p:cNvSpPr/>
          <p:nvPr/>
        </p:nvSpPr>
        <p:spPr>
          <a:xfrm>
            <a:off x="5095875" y="1543050"/>
            <a:ext cx="1857375" cy="876300"/>
          </a:xfrm>
          <a:prstGeom prst="roundRect">
            <a:avLst>
              <a:gd name="adj" fmla="val 3261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114" name="任意多边形 113"/>
          <p:cNvSpPr/>
          <p:nvPr/>
        </p:nvSpPr>
        <p:spPr>
          <a:xfrm>
            <a:off x="5095875" y="1543050"/>
            <a:ext cx="1857375" cy="876300"/>
          </a:xfrm>
          <a:custGeom>
            <a:avLst/>
            <a:gdLst/>
            <a:ahLst/>
            <a:cxnLst/>
            <a:pathLst>
              <a:path w="195" h="92">
                <a:moveTo>
                  <a:pt x="3" y="92"/>
                </a:moveTo>
                <a:cubicBezTo>
                  <a:pt x="1" y="92"/>
                  <a:pt x="0" y="91"/>
                  <a:pt x="0" y="8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2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5229225" y="1724025"/>
            <a:ext cx="15906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T̃⁽⁰⁾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5229225" y="2009775"/>
            <a:ext cx="1590675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图像特征已含语义与位置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圆角矩形 116"/>
          <p:cNvSpPr/>
          <p:nvPr/>
        </p:nvSpPr>
        <p:spPr>
          <a:xfrm>
            <a:off x="5095875" y="3048000"/>
            <a:ext cx="1857375" cy="876300"/>
          </a:xfrm>
          <a:prstGeom prst="roundRect">
            <a:avLst>
              <a:gd name="adj" fmla="val 3261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118" name="任意多边形 117"/>
          <p:cNvSpPr/>
          <p:nvPr/>
        </p:nvSpPr>
        <p:spPr>
          <a:xfrm>
            <a:off x="5095875" y="3048000"/>
            <a:ext cx="1857375" cy="876300"/>
          </a:xfrm>
          <a:custGeom>
            <a:avLst/>
            <a:gdLst/>
            <a:ahLst/>
            <a:cxnLst/>
            <a:pathLst>
              <a:path w="195" h="92">
                <a:moveTo>
                  <a:pt x="3" y="92"/>
                </a:moveTo>
                <a:cubicBezTo>
                  <a:pt x="1" y="92"/>
                  <a:pt x="0" y="91"/>
                  <a:pt x="0" y="8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2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5229225" y="3228975"/>
            <a:ext cx="15906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Q̃⁽⁰⁾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5229225" y="3514725"/>
            <a:ext cx="1590675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查询带上了解剖起点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圆角矩形 120"/>
          <p:cNvSpPr/>
          <p:nvPr/>
        </p:nvSpPr>
        <p:spPr>
          <a:xfrm>
            <a:off x="762000" y="4362450"/>
            <a:ext cx="6191250" cy="533400"/>
          </a:xfrm>
          <a:prstGeom prst="roundRect">
            <a:avLst>
              <a:gd name="adj" fmla="val 5357"/>
            </a:avLst>
          </a:prstGeom>
          <a:solidFill>
            <a:srgbClr val="F7F9FC"/>
          </a:solidFill>
          <a:ln w="12700">
            <a:solidFill>
              <a:srgbClr val="9CB6DC"/>
            </a:solidFill>
            <a:prstDash val="dash"/>
          </a:ln>
        </p:spPr>
        <p:txBody>
          <a:bodyPr/>
          <a:p/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933450" y="4505325"/>
            <a:ext cx="36671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Z⁽⁰⁾ = Concat(Q̃⁽⁰⁾, T̃⁽⁰⁾) →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进入最后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Transformer Block</a:t>
            </a:r>
            <a:endParaRPr lang="en-US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6096000" y="4562475"/>
            <a:ext cx="6858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后续逻辑不变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圆角矩形 123"/>
          <p:cNvSpPr/>
          <p:nvPr/>
        </p:nvSpPr>
        <p:spPr>
          <a:xfrm>
            <a:off x="381000" y="5219700"/>
            <a:ext cx="6572250" cy="914400"/>
          </a:xfrm>
          <a:prstGeom prst="roundRect">
            <a:avLst>
              <a:gd name="adj" fmla="val 3125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552450" y="5334000"/>
            <a:ext cx="62293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注入前后的差别</a:t>
            </a:r>
            <a:endParaRPr lang="zh-CN" sz="900" b="1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552450" y="5534025"/>
            <a:ext cx="6229350" cy="542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原版：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Query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从零信息出发，先学「大概是什么」再学「具体在哪」；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增强后：起点已带类别方向，收敛路径被缩短，小器官不必等到后期才被选中。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7429500" y="1104900"/>
            <a:ext cx="4381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对应的四行计算</a:t>
            </a:r>
            <a:endParaRPr lang="zh-CN" sz="900" b="1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圆角矩形 127"/>
          <p:cNvSpPr/>
          <p:nvPr/>
        </p:nvSpPr>
        <p:spPr>
          <a:xfrm>
            <a:off x="7429500" y="1343025"/>
            <a:ext cx="4381500" cy="1447800"/>
          </a:xfrm>
          <a:prstGeom prst="roundRect">
            <a:avLst>
              <a:gd name="adj" fmla="val 1974"/>
            </a:avLst>
          </a:prstGeom>
          <a:solidFill>
            <a:srgbClr val="F0F5FC"/>
          </a:solidFill>
          <a:ln w="12700">
            <a:solidFill>
              <a:srgbClr val="C6D7EE"/>
            </a:solidFill>
            <a:prstDash val="solid"/>
          </a:ln>
        </p:spPr>
        <p:txBody>
          <a:bodyPr/>
          <a:p/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7581900" y="1457325"/>
            <a:ext cx="40767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L = LN( FFN(T⁽⁰⁾) + T⁽⁰⁾ )</a:t>
            </a:r>
            <a:endParaRPr lang="en-US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7581900" y="1762125"/>
            <a:ext cx="40767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A = Softmax( L · E_priorᵀ / √d )</a:t>
            </a:r>
            <a:endParaRPr lang="en-US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7581900" y="2066925"/>
            <a:ext cx="40767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T̃⁽⁰⁾ = LN( FFN(A·E_prior) + A·E_prior + T⁽⁰⁾ )</a:t>
            </a:r>
            <a:endParaRPr lang="en-US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7581900" y="2371725"/>
            <a:ext cx="40767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Q̃⁽⁰⁾ = Q_init + MLP_proj( Ê_prior )</a:t>
            </a:r>
            <a:endParaRPr lang="en-US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7429500" y="2867025"/>
            <a:ext cx="43815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LN </a:t>
            </a:r>
            <a:r>
              <a:rPr lang="zh-CN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en-US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LayerNorm</a:t>
            </a:r>
            <a:r>
              <a:rPr lang="zh-CN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d </a:t>
            </a:r>
            <a:r>
              <a:rPr lang="zh-CN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为特征维度；</a:t>
            </a:r>
            <a:r>
              <a:rPr lang="en-US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A </a:t>
            </a:r>
            <a:r>
              <a:rPr lang="zh-CN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的每一行沿类别维做归一化</a:t>
            </a:r>
            <a:endParaRPr lang="zh-CN"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7429500" y="3238500"/>
            <a:ext cx="4381500" cy="942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A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的物理含义是「这个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patch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该关注哪些类别」的软权重。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乘上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E_prior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后，图像特征被拉向与其位置相符的类别语义，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而不是均匀地吸收所有类别的描述。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任意多边形 134"/>
          <p:cNvSpPr/>
          <p:nvPr/>
        </p:nvSpPr>
        <p:spPr>
          <a:xfrm>
            <a:off x="7429500" y="4333875"/>
            <a:ext cx="2133600" cy="866775"/>
          </a:xfrm>
          <a:custGeom>
            <a:avLst/>
            <a:gdLst/>
            <a:ahLst/>
            <a:cxnLst/>
            <a:pathLst>
              <a:path w="224" h="91">
                <a:moveTo>
                  <a:pt x="0" y="0"/>
                </a:moveTo>
                <a:lnTo>
                  <a:pt x="224" y="0"/>
                </a:lnTo>
                <a:lnTo>
                  <a:pt x="224" y="2"/>
                </a:lnTo>
                <a:lnTo>
                  <a:pt x="0" y="2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7429500" y="4448175"/>
            <a:ext cx="21336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上支路改「看到什么」</a:t>
            </a:r>
            <a:endParaRPr lang="zh-CN" sz="9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7429500" y="4686300"/>
            <a:ext cx="2133600" cy="495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每个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patch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检索一遍类别先验，图像侧先获得语义上下文。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任意多边形 137"/>
          <p:cNvSpPr/>
          <p:nvPr/>
        </p:nvSpPr>
        <p:spPr>
          <a:xfrm>
            <a:off x="9677400" y="4333875"/>
            <a:ext cx="2133600" cy="866775"/>
          </a:xfrm>
          <a:custGeom>
            <a:avLst/>
            <a:gdLst/>
            <a:ahLst/>
            <a:cxnLst/>
            <a:pathLst>
              <a:path w="224" h="91">
                <a:moveTo>
                  <a:pt x="0" y="0"/>
                </a:moveTo>
                <a:lnTo>
                  <a:pt x="224" y="0"/>
                </a:lnTo>
                <a:lnTo>
                  <a:pt x="224" y="2"/>
                </a:lnTo>
                <a:lnTo>
                  <a:pt x="0" y="2"/>
                </a:lnTo>
                <a:close/>
              </a:path>
            </a:pathLst>
          </a:custGeom>
          <a:solidFill>
            <a:srgbClr val="3D7BD9"/>
          </a:solidFill>
        </p:spPr>
        <p:txBody>
          <a:bodyPr/>
          <a:p/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9677400" y="4448175"/>
            <a:ext cx="21336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下支路改「找什么」</a:t>
            </a:r>
            <a:endParaRPr lang="zh-CN" sz="9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9677400" y="4686300"/>
            <a:ext cx="2133600" cy="495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每个类别查询拿到解剖起点，减少从随机初值试错。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7458075" y="5410200"/>
            <a:ext cx="4381500" cy="6858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42" name="任意多边形 141"/>
          <p:cNvSpPr/>
          <p:nvPr/>
        </p:nvSpPr>
        <p:spPr>
          <a:xfrm>
            <a:off x="7429500" y="5410200"/>
            <a:ext cx="4410075" cy="685800"/>
          </a:xfrm>
          <a:custGeom>
            <a:avLst/>
            <a:gdLst/>
            <a:ahLst/>
            <a:cxnLst/>
            <a:pathLst>
              <a:path w="463" h="72">
                <a:moveTo>
                  <a:pt x="0" y="0"/>
                </a:moveTo>
                <a:lnTo>
                  <a:pt x="3" y="0"/>
                </a:lnTo>
                <a:lnTo>
                  <a:pt x="3" y="72"/>
                </a:lnTo>
                <a:lnTo>
                  <a:pt x="0" y="72"/>
                </a:lnTo>
                <a:close/>
              </a:path>
            </a:pathLst>
          </a:custGeom>
          <a:solidFill>
            <a:srgbClr val="D9534F"/>
          </a:solidFill>
        </p:spPr>
        <p:txBody>
          <a:bodyPr/>
          <a:p/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7591425" y="5505450"/>
            <a:ext cx="4086225" cy="495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90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注意：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Ê_prior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需扩展到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N_q = 2C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Query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序列，同一类别的两个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Query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共享同一行先验。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381000" y="6334125"/>
            <a:ext cx="1390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ASEE · 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解剖语义增强编码</a:t>
            </a:r>
            <a:endParaRPr lang="zh-CN" sz="9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11315700" y="6324600"/>
            <a:ext cx="180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11496675" y="6324600"/>
            <a:ext cx="3143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/ 14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" descr="&lt;Slide style={{ width: 1280, height: 720, padding: 0, background: '#F7F9FC' }}&gt;&#13;&#10;    &lt;Box style={{ position: 'relative', width: 1280, height: 720 }}&gt;&#13;&#10;&#13;&#10;        &lt;Box style={{ position: 'absolute', left: 0, top: 0, width: 1280, height: 8, background: '#1E4FA8' }} /&gt;&#13;&#10;&#13;&#10;        {/* 标题块 */}&#13;&#10;        &lt;Box style={{ position: 'absolute', left: 40, top: 96, width: 740 }}&gt;&#13;&#10;            &lt;Box style={{ width: 48, height: 4, background: '#3D7BD9' }} /&gt;&#13;&#10;            &lt;Box style={{ height: 16 }} /&gt;&#13;&#10;            &lt;Text style={{ fontSize: 13, color: '#3D7BD9', letterSpacing: 3 }}&gt;CHAPTER 03 · IMPLEMENTATION&lt;/Text&gt;&#13;&#10;            &lt;Box style={{ height: 12 }} /&gt;&#13;&#10;            &lt;Text style={{ fontSize: 50, fontWeight: 'bold', color: '#0E3F8C', letterSpacing: 2, lineHeight: 1.2 }}&gt;实现路径与预期收益&lt;/Text&gt;&#13;&#10;            &lt;Box style={{ height: 18 }} /&gt;&#13;&#10;            &lt;Text style={{ fontSize: 16, color: '#4A5568', lineHeight: 1.9 }}&gt;&#13;&#10;                方法再好，也要落到「改哪一行、动多少参数、换来什么」这三件事上。&#13;&#10;                这一章把 ASEE 收敛成一次局部改造。&#13;&#10;            &lt;/Text&gt;&#13;&#10;        &lt;/Box&gt;&#13;&#10;&#13;&#10;        {/* 巨型数字 */}&#13;&#10;        &lt;Box style={{ position: 'absolute', left: 780, top: 58, width: 460, alignItems: 'flex-end' }}&gt;&#13;&#10;            &lt;Text style={{ fontSize: 220, fontWeight: 'bold', color: '#E1EAF6', lineHeight: 1, letterSpacing: 6 }}&gt;03&lt;/Text&gt;&#13;&#10;        &lt;/Box&gt;&#13;&#10;&#13;&#10;        {/* 三个要点（纵向列表） */}&#13;&#10;        &lt;Box style={{ position: 'absolute', left: 40, top: 330, width: 1200, height: 1, background: '#C6D7EE' }} /&gt;&#13;&#10;&#13;&#10;        &lt;Box style={{ position: 'absolute', left: 40, top: 352, width: 1200, height: 84, flexDirection: 'row', alignItems: 'center' }}&gt;&#13;&#10;            &lt;Text style={{ width: 120, fontSize: 28, fontWeight: 'bold', color: '#9CB6DC', lineHeight: 1 }}&gt;01&lt;/Text&gt;&#13;&#10;            &lt;Box style={{ width: 260 }}&gt;&#13;&#10;                &lt;Text style={{ fontSize: 20, fontWeight: 'bold', color: '#0E3F8C', lineHeight: 1.4 }}&gt;改动局部&lt;/Text&gt;&#13;&#10;            &lt;/Box&gt;&#13;&#10;            &lt;Text style={{ flex: 1, fontSize: 14, color: '#4A5568', lineHeight: 1.8 }}&gt;&#13;&#10;                只在前向传播的入口处插入一个模块，DINOv2 主干与预测头不参与改动。&#13;&#10;            &lt;/Text&gt;&#13;&#10;        &lt;/Box&gt;&#13;&#10;&#13;&#10;        &lt;Box style={{ position: 'absolute', left: 40, top: 436, width: 1200, height: 1, background: '#D6DCE5' }} /&gt;&#13;&#10;        &lt;Box style={{ position: 'absolute', left: 40, top: 456, width: 1200, height: 84, flexDirection: 'row', alignItems: 'center' }}&gt;&#13;&#10;            &lt;Text style={{ width: 120, fontSize: 28, fontWeight: 'bold', color: '#9CB6DC', lineHeight: 1 }}&gt;02&lt;/Text&gt;&#13;&#10;            &lt;Box style={{ width: 260 }}&gt;&#13;&#10;                &lt;Text style={{ fontSize: 20, fontWeight: 'bold', color: '#0E3F8C', lineHeight: 1.4 }}&gt;参数增量小&lt;/Text&gt;&#13;&#10;            &lt;/Box&gt;&#13;&#10;            &lt;Text style={{ flex: 1, fontSize: 14, color: '#4A5568', lineHeight: 1.8 }}&gt;&#13;&#10;                新增一个线性映射、一个轻量 MLP 与一次交叉注意力的投影，文本编码器完全冻结。&#13;&#10;            &lt;/Text&gt;&#13;&#10;        &lt;/Box&gt;&#13;&#10;&#13;&#10;        &lt;Box style={{ position: 'absolute', left: 40, top: 540, width: 1200, height: 1, background: '#D6DCE5' }} /&gt;&#13;&#10;        &lt;Box style={{ position: 'absolute', left: 40, top: 560, width: 1200, height: 84, flexDirection: 'row', alignItems: 'center' }}&gt;&#13;&#10;            &lt;Text style={{ width: 120, fontSize: 28, fontWeight: 'bold', color: '#9CB6DC', lineHeight: 1 }}&gt;03&lt;/Text&gt;&#13;&#10;            &lt;Box style={{ width: 260 }}&gt;&#13;&#10;                &lt;Text style={{ fontSize: 20, fontWeight: 'bold', color: '#0E3F8C', lineHeight: 1.4 }}&gt;收益定向&lt;/Text&gt;&#13;&#10;            &lt;/Box&gt;&#13;&#10;            &lt;Text style={{ flex: 1, fontSize: 14, color: '#4A5568', lineHeight: 1.8 }}&gt;&#13;&#10;                预期改善集中在胆囊、胰腺两个 Dice 洼地，而不是全线均匀抬高。&#13;&#10;            &lt;/Text&gt;&#13;&#10;        &lt;/Box&gt;&#13;&#10;        &lt;Box style={{ position: 'absolute', left: 40, top: 644, width: 1200, height: 1, background: '#D6DCE5' }} /&gt;&#13;&#10;&#13;&#10;        {/* 页脚 */}&#13;&#10;        &lt;Box style={{ position: 'absolute', left: 40, top: 664, width: 1200, flexDirection: 'row', alignItems: 'center' }}&gt;&#13;&#10;            &lt;Text style={{ fontSize: 13, color: '#8B97A8' }}&gt;ASEE · 解剖语义增强编码&lt;/Text&gt;&#13;&#10;            &lt;Box style={{ flex: 1 }} /&gt;&#13;&#10;            &lt;Text style={{ fontSize: 15, fontWeight: 'bold', color: '#1E4FA8' }}&gt;12&lt;/Text&gt;&#13;&#10;            &lt;Text style={{ fontSize: 15, color: '#8B97A8' }}&gt; / 14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矩形 1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149" name="矩形 14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50" name="矩形 149"/>
          <p:cNvSpPr/>
          <p:nvPr/>
        </p:nvSpPr>
        <p:spPr>
          <a:xfrm>
            <a:off x="381000" y="914400"/>
            <a:ext cx="457200" cy="3810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381000" y="1104900"/>
            <a:ext cx="7048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CHAPTER 03 · IMPLEMENTATION</a:t>
            </a:r>
            <a:endParaRPr lang="en-US" sz="975" spc="225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381000" y="1371600"/>
            <a:ext cx="7048500" cy="685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750" b="1" spc="15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实现路径与预期收益</a:t>
            </a:r>
            <a:endParaRPr lang="zh-CN" sz="3750" b="1" spc="15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381000" y="2228850"/>
            <a:ext cx="704850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方法再好，也要落到「改哪一行、动多少参数、换来什么」这三件事上。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这一章把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ASEE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收敛成一次局部改造。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9105900" y="552450"/>
            <a:ext cx="2705100" cy="2514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 spc="450">
                <a:solidFill>
                  <a:srgbClr val="E1EAF6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6500" b="1" spc="450">
              <a:solidFill>
                <a:srgbClr val="E1EA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381000" y="3143250"/>
            <a:ext cx="11430000" cy="9525"/>
          </a:xfrm>
          <a:prstGeom prst="rect">
            <a:avLst/>
          </a:prstGeom>
          <a:solidFill>
            <a:srgbClr val="C6D7EE"/>
          </a:solidFill>
        </p:spPr>
        <p:txBody>
          <a:bodyPr/>
          <a:p/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381000" y="3590925"/>
            <a:ext cx="11430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9CB6DC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2100" b="1">
              <a:solidFill>
                <a:srgbClr val="9CB6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1524000" y="3590925"/>
            <a:ext cx="24765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改动局部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4000500" y="3609975"/>
            <a:ext cx="78105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只在前向传播的入口处插入一个模块，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DINOv2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主干与预测头不参与改动。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381000" y="4152900"/>
            <a:ext cx="11430000" cy="9525"/>
          </a:xfrm>
          <a:prstGeom prst="rect">
            <a:avLst/>
          </a:prstGeom>
          <a:solidFill>
            <a:srgbClr val="D6DCE5"/>
          </a:solidFill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381000" y="4581525"/>
            <a:ext cx="11430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9CB6DC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2100" b="1">
              <a:solidFill>
                <a:srgbClr val="9CB6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1524000" y="4581525"/>
            <a:ext cx="24765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参数增量小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4000500" y="4600575"/>
            <a:ext cx="78105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新增一个线性映射、一个轻量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MLP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与一次交叉注意力的投影，文本编码器完全冻结。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" name="矩形 162"/>
          <p:cNvSpPr/>
          <p:nvPr/>
        </p:nvSpPr>
        <p:spPr>
          <a:xfrm>
            <a:off x="381000" y="5143500"/>
            <a:ext cx="11430000" cy="9525"/>
          </a:xfrm>
          <a:prstGeom prst="rect">
            <a:avLst/>
          </a:prstGeom>
          <a:solidFill>
            <a:srgbClr val="D6DCE5"/>
          </a:solidFill>
        </p:spPr>
        <p:txBody>
          <a:bodyPr/>
          <a:p/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381000" y="5572125"/>
            <a:ext cx="11430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9CB6DC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2100" b="1">
              <a:solidFill>
                <a:srgbClr val="9CB6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1524000" y="5572125"/>
            <a:ext cx="24765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收益定向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4000500" y="5591175"/>
            <a:ext cx="78105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预期改善集中在胆囊、胰腺两个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Dice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洼地，而不是全线均匀抬高。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" name="矩形 166"/>
          <p:cNvSpPr/>
          <p:nvPr/>
        </p:nvSpPr>
        <p:spPr>
          <a:xfrm>
            <a:off x="381000" y="6134100"/>
            <a:ext cx="11430000" cy="9525"/>
          </a:xfrm>
          <a:prstGeom prst="rect">
            <a:avLst/>
          </a:prstGeom>
          <a:solidFill>
            <a:srgbClr val="D6DCE5"/>
          </a:solidFill>
        </p:spPr>
        <p:txBody>
          <a:bodyPr/>
          <a:p/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381000" y="6334125"/>
            <a:ext cx="1390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ASEE · 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解剖语义增强编码</a:t>
            </a:r>
            <a:endParaRPr lang="zh-CN" sz="9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11315700" y="6324600"/>
            <a:ext cx="180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11496675" y="6324600"/>
            <a:ext cx="3143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/ 14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" descr="&lt;Slide style={{ width: 1280, height: 720, padding: 0, background: '#FFFFFF' }}&gt;&#13;&#10;    &lt;Box style={{ position: 'relative', width: 1280, height: 720 }}&gt;&#13;&#10;&#13;&#10;        &lt;Box style={{ position: 'absolute', left: 0, top: 0, width: 1280, height: 8, background: '#1E4FA8' }} /&gt;&#13;&#10;&#13;&#10;        {/* 页眉 */}&#13;&#10;        &lt;Box style={{ position: 'absolute', left: 40, top: 22, width: 1200, height: 60, flexDirection: 'row', alignItems: 'center' }}&gt;&#13;&#10;            &lt;Box&gt;&#13;&#10;                &lt;Text style={{ fontSize: 12, color: '#3D7BD9', letterSpacing: 1.5 }}&gt;03 / 实现路径与预期收益&lt;/Text&gt;&#13;&#10;                &lt;Box style={{ height: 4 }} /&gt;&#13;&#10;                &lt;Text style={{ fontSize: 32, fontWeight: 'bold', color: '#0E3F8C', letterSpacing: 0.5 }}&gt;改造路径：只动前向传播的一个节点&lt;/Text&gt;&#13;&#10;            &lt;/Box&gt;&#13;&#10;            &lt;Box style={{ flex: 1 }} /&gt;&#13;&#10;            &lt;Box style={{ background: '#E8EFF8', borderRadius: 3, padding: '6px 14px' }}&gt;&#13;&#10;                &lt;Text style={{ fontSize: 12, color: '#1E4FA8', fontWeight: 'bold', letterSpacing: 1 }}&gt;表 1 / 改造清单&lt;/Text&gt;&#13;&#10;            &lt;/Box&gt;&#13;&#10;        &lt;/Box&gt;&#13;&#10;        &lt;Box style={{ position: 'absolute', left: 40, top: 92, width: 1200, height: 1, background: '#D6DCE5' }} /&gt;&#13;&#10;&#13;&#10;        {/* 左：原则 */}&#13;&#10;        &lt;Box style={{ position: 'absolute', left: 40, top: 112, width: 380, height: 528 }}&gt;&#13;&#10;            &lt;Text style={{ fontSize: 12, color: '#1E4FA8', fontWeight: 'bold', letterSpacing: 1 }}&gt;三条实施原则&lt;/Text&gt;&#13;&#10;            &lt;Box style={{ height: 12 }} /&gt;&#13;&#10;&#13;&#10;            &lt;Box style={{ flexDirection: 'row', alignItems: 'flex-start', gap: 10 }}&gt;&#13;&#10;                &lt;Text style={{ fontSize: 12, fontWeight: 'bold', color: '#1E4FA8', width: 16, lineHeight: 1.9 }}&gt;1&lt;/Text&gt;&#13;&#10;                &lt;Text style={{ flex: 1, fontSize: 13, color: '#1A2230', lineHeight: 1.9 }}&gt;&#13;&#10;                    先离线跑通 S 与 M 的生成脚本，把 E_prior 存成张量再接入训练&#13;&#10;                &lt;/Text&gt;&#13;&#10;            &lt;/Box&gt;&#13;&#10;            &lt;Box style={{ height: 8 }} /&gt;&#13;&#10;            &lt;Box style={{ flexDirection: 'row', alignItems: 'flex-start', gap: 10 }}&gt;&#13;&#10;                &lt;Text style={{ fontSize: 12, fontWeight: 'bold', color: '#1E4FA8', width: 16, lineHeight: 1.9 }}&gt;2&lt;/Text&gt;&#13;&#10;                &lt;Text style={{ flex: 1, fontSize: 13, color: '#1A2230', lineHeight: 1.9 }}&gt;&#13;&#10;                    文本编码器与映射层先冻结，仅训练 MLP 与注意力投影，避免早期不稳定&#13;&#10;                &lt;/Text&gt;&#13;&#10;            &lt;/Box&gt;&#13;&#10;            &lt;Box style={{ height: 8 }} /&gt;&#13;&#10;            &lt;Box style={{ flexDirection: 'row', alignItems: 'flex-start', gap: 10 }}&gt;&#13;&#10;                &lt;Text style={{ fontSize: 12, fontWeight: 'bold', color: '#1E4FA8', width: 16, lineHeight: 1.9 }}&gt;3&lt;/Text&gt;&#13;&#10;                &lt;Text style={{ flex: 1, fontSize: 13, color: '#1A2230', lineHeight: 1.9 }}&gt;&#13;&#10;                    保持张量形状不变，改造对下游 Block 完全透明&#13;&#10;                &lt;/Text&gt;&#13;&#10;            &lt;/Box&gt;&#13;&#10;&#13;&#10;            &lt;Box style={{ height: 18 }} /&gt;&#13;&#10;&#13;&#10;            &lt;Box style={{ background: '#0E3F8C', borderRadius: 3, padding: '14px 16px' }}&gt;&#13;&#10;                &lt;Text style={{ fontSize: 11, color: '#9DB8E0', letterSpacing: 1 }}&gt;FORWARD 伪代码&lt;/Text&gt;&#13;&#10;                &lt;Box style={{ height: 8 }} /&gt;&#13;&#10;                &lt;Text style={{ fontSize: 12, color: '#E8EFF8', lineHeight: 1.9 }}&gt;T, Q = backbone_prefix(x)&lt;/Text&gt;&#13;&#10;                &lt;Text style={{ fontSize: 12, color: '#FFC107', lineHeight: 1.9 }}&gt;T = asee_patch(T, E_prior)&lt;/Text&gt;&#13;&#10;                &lt;Text style={{ fontSize: 12, color: '#FFC107', lineHeight: 1.9 }}&gt;Q = Q_init + mlp(E_prior)&lt;/Text&gt;&#13;&#10;                &lt;Text style={{ fontSize: 12, color: '#E8EFF8', lineHeight: 1.9 }}&gt;Z = concat(Q, T)&lt;/Text&gt;&#13;&#10;                &lt;Text style={{ fontSize: 12, color: '#E8EFF8', lineHeight: 1.9 }}&gt;return head(blocks_tail(Z))&lt;/Text&gt;&#13;&#10;            &lt;/Box&gt;&#13;&#10;&#13;&#10;            &lt;Box style={{ flex: 1 }} /&gt;&#13;&#10;&#13;&#10;            &lt;Box style={{ borderTop: '1px solid #D6DCE5', paddingTop: 12 }}&gt;&#13;&#10;                &lt;Text style={{ fontSize: 12, color: '#8B97A8', lineHeight: 1.8 }}&gt;&#13;&#10;                    伪代码仅示意改动位置与顺序，具体命名以 EoSeg 实现为准。&#13;&#10;                &lt;/Text&gt;&#13;&#10;            &lt;/Box&gt;&#13;&#10;        &lt;/Box&gt;&#13;&#10;&#13;&#10;        {/* 右：表格 */}&#13;&#10;        &lt;Box style={{ position: 'absolute', left: 460, top: 112, width: 780, height: 418 }}&gt;&#13;&#10;            &lt;Table&#13;&#10;                style={{ width: '100%', height: '100%' }}&#13;&#10;                defaultTextStyle={{ fontSize: 13, textAlign: 'left', color: '#1A2230' }}&#13;&#10;                defaultCellStyle={{&#13;&#10;                    padding: '8px 12px',&#13;&#10;                    border: {&#13;&#10;                        left: { width: 0, color: '#FFFFFF' },&#13;&#10;                        right: { width: 0, color: '#FFFFFF' },&#13;&#10;                        top: { width: 0, color: '#FFFFFF' },&#13;&#10;                        bottom: { width: 1, color: '#E5E7EB' },&#13;&#10;                    },&#13;&#10;                }}&#13;&#10;                cells={[&#13;&#10;                    [&#13;&#10;                        { text: '位置', textStyle: { bold: true, color: '#FFFFFF', fontSize: 13 }, cellStyle: { background: { color: '#0E3F8C' }, padding: '10px 12px' } },&#13;&#10;                        { text: '现有逻辑', textStyle: { bold: true, color: '#FFFFFF', fontSize: 13 }, cellStyle: { background: { color: '#0E3F8C' }, padding: '10px 12px' } },&#13;&#10;                        { text: '改造动作', textStyle: { bold: true, color: '#FFFFFF', fontSize: 13 }, cellStyle: { background: { color: '#0E3F8C' }, padding: '10px 12px' } },&#13;&#10;                        { text: '影响面', textStyle: { bold: true, color: '#FFFFFF', fontSize: 13 }, cellStyle: { background: { color: '#0E3F8C' }, padding: '10px 12px' } },&#13;&#10;                    ],&#13;&#10;                    [&#13;&#10;                        { text: 'T⁽⁰⁾ 特征', textStyle: { bold: true }, cellStyle: { background: { color: '#FFFFFF' } } },&#13;&#10;                        { text: '前 L−3 层直接输出', cellStyle: { background: { color: '#FFFFFF' } } },&#13;&#10;                        { text: '新增交叉注意力，产出 T̃⁽⁰⁾', textStyle: { color: '#1E4FA8', bold: true }, cellStyle: { background: { color: '#FFFFFF' } } },&#13;&#10;                        { text: '新增模块', cellStyle: { background: { color: '#FFFFFF' } } },&#13;&#10;                    ],&#13;&#10;                    [&#13;&#10;                        { text: 'Q⁽⁰⁾ 初始化', textStyle: { bold: true }, cellStyle: { background: { color: '#F7F9FC' } } },&#13;&#10;                        { text: '随机初始化可学习参数', cellStyle: { background: { color: '#F7F9FC' } } },&#13;&#10;                        { text: '改为 Q_init + MLP(E_prior)', textStyle: { color: '#1E4FA8', bold: true }, cellStyle: { background: { color: '#F7F9FC' } } },&#13;&#10;                        { text: '需对齐 2C', cellStyle: { background: { color: '#F7F9FC' } } },&#13;&#10;                    ],&#13;&#10;                    [&#13;&#10;                        { text: '先验构建', textStyle: { bold: true }, cellStyle: { background: { color: '#FFFFFF' } } },&#13;&#10;                        { text: '不存在该环节', cellStyle: { background: { color: '#FFFFFF' } } },&#13;&#10;                        { text: '离线统计 S、M，缓存 E_prior', textStyle: { color: '#1E4FA8', bold: true }, cellStyle: { background: { color: '#FFFFFF' } } },&#13;&#10;                        { text: '离线一次', cellStyle: { background: { color: '#FFFFFF' } } },&#13;&#10;                    ],&#13;&#10;                    [&#13;&#10;                        { text: '特征拼接', textStyle: { bold: true }, cellStyle: { background: { color: '#F7F9FC' } } },&#13;&#10;                        { text: 'Concat(Q⁽⁰⁾, T⁽⁰⁾)', cellStyle: { background: { color: '#F7F9FC' } } },&#13;&#10;                        { text: '改为 Concat(Q̃⁽⁰⁾, T̃⁽⁰⁾)，维度不变', textStyle: { color: '#1E4FA8', bold: true }, cellStyle: { background: { color: '#F7F9FC' } } },&#13;&#10;                        { text: '无', cellStyle: { background: { color: '#F7F9FC' } } },&#13;&#10;                    ],&#13;&#10;                    [&#13;&#10;                        { text: '后 3 层 Block', textStyle: { bold: true }, cellStyle: { background: { color: '#FFFFFF' } } },&#13;&#10;                        { text: 'Multi-level Query Modeling', cellStyle: { background: { color: '#FFFFFF' } } },&#13;&#10;                        { text: '不改动，沿用原实现', textStyle: { color: '#4A5568' }, cellStyle: { background: { color: '#FFFFFF' } } },&#13;&#10;                        { text: '无', cellStyle: { background: { color: '#FFFFFF' } } },&#13;&#10;                    ],&#13;&#10;                    [&#13;&#10;                        { text: 'Fusion / Head', textStyle: { bold: true }, cellStyle: { background: { color: '#F7F9FC' } } },&#13;&#10;                        { text: '可学习融合与预测头', cellStyle: { background: { color: '#F7F9FC' } } },&#13;&#10;                        { text: '不改动，沿用原实现', textStyle: { color: '#4A5568' }, cellStyle: { background: { color: '#F7F9FC' } } },&#13;&#10;                        { text: '无', cellStyle: { background: { color: '#F7F9FC' } } },&#13;&#10;                    ],&#13;&#10;                ]}&#13;&#10;            /&gt;&#13;&#10;        &lt;/Box&gt;&#13;&#10;&#13;&#10;        {/* 结论条 */}&#13;&#10;        &lt;Box style={{ position: 'absolute', left: 460, top: 544, width: 780, height: 100, background: '#F0F5FC', borderLeft: '3px solid #1E4FA8', borderRadius: 3, padding: '14px 18px' }}&gt;&#13;&#10;            &lt;Text style={{ fontSize: 12, color: '#1E4FA8', fontWeight: 'bold', letterSpacing: 1 }}&gt;改造边界&lt;/Text&gt;&#13;&#10;            &lt;Box style={{ height: 6 }} /&gt;&#13;&#10;            &lt;Text style={{ fontSize: 14, color: '#1A2230', lineHeight: 1.85 }}&gt;&#13;&#10;                全表 7 项里只有 4 项需要写代码，且全部集中在同一条数据通路上；&#13;&#10;                消融实验只要逐个关掉上支路、下支路，就能定位收益来自「看图」还是「找类」。&#13;&#10;            &lt;/Text&gt;&#13;&#10;        &lt;/Box&gt;&#13;&#10;&#13;&#10;        {/* 页脚 */}&#13;&#10;        &lt;Box style={{ position: 'absolute', left: 40, top: 664, width: 1200, flexDirection: 'row', alignItems: 'center' }}&gt;&#13;&#10;            &lt;Text style={{ fontSize: 13, color: '#8B97A8' }}&gt;ASEE · 解剖语义增强编码&lt;/Text&gt;&#13;&#10;            &lt;Box style={{ flex: 1 }} /&gt;&#13;&#10;            &lt;Text style={{ fontSize: 15, fontWeight: 'bold', color: '#1E4FA8' }}&gt;13&lt;/Text&gt;&#13;&#10;            &lt;Text style={{ fontSize: 15, color: '#8B97A8' }}&gt; / 14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矩形 17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3" name="矩形 17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381000" y="219075"/>
            <a:ext cx="49530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03 / </a:t>
            </a:r>
            <a:r>
              <a:rPr lang="zh-CN" sz="900" spc="113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实现路径与预期收益</a:t>
            </a:r>
            <a:endParaRPr lang="zh-CN" sz="900" spc="113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381000" y="400050"/>
            <a:ext cx="4953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改造路径：只动前向传播的一个节点</a:t>
            </a:r>
            <a:endParaRPr lang="zh-CN" sz="2400" b="1" spc="38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圆角矩形 175"/>
          <p:cNvSpPr/>
          <p:nvPr/>
        </p:nvSpPr>
        <p:spPr>
          <a:xfrm>
            <a:off x="10648950" y="371475"/>
            <a:ext cx="1162050" cy="257175"/>
          </a:xfrm>
          <a:prstGeom prst="roundRect">
            <a:avLst>
              <a:gd name="adj" fmla="val 11111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10782300" y="428625"/>
            <a:ext cx="8953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表</a:t>
            </a:r>
            <a:r>
              <a:rPr lang="en-US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 1 / </a:t>
            </a: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改造清单</a:t>
            </a:r>
            <a:endParaRPr lang="zh-CN" sz="900" b="1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矩形 177"/>
          <p:cNvSpPr/>
          <p:nvPr/>
        </p:nvSpPr>
        <p:spPr>
          <a:xfrm>
            <a:off x="381000" y="876300"/>
            <a:ext cx="11430000" cy="9525"/>
          </a:xfrm>
          <a:prstGeom prst="rect">
            <a:avLst/>
          </a:prstGeom>
          <a:solidFill>
            <a:srgbClr val="D6DCE5"/>
          </a:solidFill>
        </p:spPr>
        <p:txBody>
          <a:bodyPr/>
          <a:p/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381000" y="1066800"/>
            <a:ext cx="3619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三条实施原则</a:t>
            </a:r>
            <a:endParaRPr lang="zh-CN" sz="900" b="1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381000" y="1323975"/>
            <a:ext cx="152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9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9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628650" y="1323975"/>
            <a:ext cx="33718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先离线跑通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S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M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的生成脚本，把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E_prior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存成张量再接入训练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381000" y="1971675"/>
            <a:ext cx="152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9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9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628650" y="1971675"/>
            <a:ext cx="33718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文本编码器与映射层先冻结，仅训练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MLP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与注意力投影，避免早期不稳定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381000" y="2619375"/>
            <a:ext cx="152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9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9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628650" y="2619375"/>
            <a:ext cx="337185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保持张量形状不变，改造对下游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Block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完全透明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圆角矩形 185"/>
          <p:cNvSpPr/>
          <p:nvPr/>
        </p:nvSpPr>
        <p:spPr>
          <a:xfrm>
            <a:off x="381000" y="3076575"/>
            <a:ext cx="3619500" cy="1809750"/>
          </a:xfrm>
          <a:prstGeom prst="roundRect">
            <a:avLst>
              <a:gd name="adj" fmla="val 1579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533400" y="3209925"/>
            <a:ext cx="33147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9DB8E0"/>
                </a:solidFill>
                <a:latin typeface="微软雅黑" panose="020B0503020204020204" charset="-122"/>
                <a:ea typeface="微软雅黑" panose="020B0503020204020204" charset="-122"/>
              </a:rPr>
              <a:t>FORWARD </a:t>
            </a:r>
            <a:r>
              <a:rPr lang="zh-CN" sz="825" spc="75">
                <a:solidFill>
                  <a:srgbClr val="9DB8E0"/>
                </a:solidFill>
                <a:latin typeface="微软雅黑" panose="020B0503020204020204" charset="-122"/>
                <a:ea typeface="微软雅黑" panose="020B0503020204020204" charset="-122"/>
              </a:rPr>
              <a:t>伪代码</a:t>
            </a:r>
            <a:endParaRPr lang="zh-CN" sz="825" spc="75">
              <a:solidFill>
                <a:srgbClr val="9DB8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533400" y="3419475"/>
            <a:ext cx="33147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90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T, Q = backbone_prefix(x)</a:t>
            </a:r>
            <a:endParaRPr lang="en-US" sz="90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533400" y="3686175"/>
            <a:ext cx="33147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900">
                <a:solidFill>
                  <a:srgbClr val="FFC107"/>
                </a:solidFill>
                <a:latin typeface="微软雅黑" panose="020B0503020204020204" charset="-122"/>
                <a:ea typeface="微软雅黑" panose="020B0503020204020204" charset="-122"/>
              </a:rPr>
              <a:t>T = asee_patch(T, E_prior)</a:t>
            </a:r>
            <a:endParaRPr lang="en-US" sz="900">
              <a:solidFill>
                <a:srgbClr val="FFC10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533400" y="3952875"/>
            <a:ext cx="33147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900">
                <a:solidFill>
                  <a:srgbClr val="FFC107"/>
                </a:solidFill>
                <a:latin typeface="微软雅黑" panose="020B0503020204020204" charset="-122"/>
                <a:ea typeface="微软雅黑" panose="020B0503020204020204" charset="-122"/>
              </a:rPr>
              <a:t>Q = Q_init + mlp(E_prior)</a:t>
            </a:r>
            <a:endParaRPr lang="en-US" sz="900">
              <a:solidFill>
                <a:srgbClr val="FFC10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533400" y="4219575"/>
            <a:ext cx="33147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90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Z = concat(Q, T)</a:t>
            </a:r>
            <a:endParaRPr lang="en-US" sz="90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533400" y="4486275"/>
            <a:ext cx="33147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90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return head(blocks_tail(Z))</a:t>
            </a:r>
            <a:endParaRPr lang="en-US" sz="90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" name="任意多边形 192"/>
          <p:cNvSpPr/>
          <p:nvPr/>
        </p:nvSpPr>
        <p:spPr>
          <a:xfrm>
            <a:off x="381000" y="5724525"/>
            <a:ext cx="3619500" cy="381000"/>
          </a:xfrm>
          <a:custGeom>
            <a:avLst/>
            <a:gdLst/>
            <a:ahLst/>
            <a:cxnLst/>
            <a:pathLst>
              <a:path w="380" h="40">
                <a:moveTo>
                  <a:pt x="0" y="0"/>
                </a:moveTo>
                <a:lnTo>
                  <a:pt x="380" y="0"/>
                </a:lnTo>
                <a:lnTo>
                  <a:pt x="3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381000" y="5848350"/>
            <a:ext cx="36195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伪代码仅示意改动位置与顺序，具体命名以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EoSeg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实现为准。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95" name="表格 194"/>
          <p:cNvGraphicFramePr/>
          <p:nvPr/>
        </p:nvGraphicFramePr>
        <p:xfrm>
          <a:off x="4381500" y="1066800"/>
          <a:ext cx="7429500" cy="3981453"/>
        </p:xfrm>
        <a:graphic>
          <a:graphicData uri="http://schemas.openxmlformats.org/drawingml/2006/table">
            <a:tbl>
              <a:tblPr/>
              <a:tblGrid>
                <a:gridCol w="1323347"/>
                <a:gridCol w="2378378"/>
                <a:gridCol w="2821230"/>
                <a:gridCol w="906545"/>
              </a:tblGrid>
              <a:tr h="56877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位置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现有逻辑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改造动作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影响面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</a:tr>
              <a:tr h="56877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T⁽⁰⁾ 特征</a:t>
                      </a:r>
                      <a:endParaRPr sz="975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前 L−3 层直接输出</a:t>
                      </a:r>
                      <a:endParaRPr sz="97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新增交叉注意力，产出 T̃⁽⁰⁾</a:t>
                      </a:r>
                      <a:endParaRPr sz="975" b="1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新增模块</a:t>
                      </a:r>
                      <a:endParaRPr sz="97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Q⁽⁰⁾ 初始化</a:t>
                      </a:r>
                      <a:endParaRPr sz="975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随机初始化可学习参数</a:t>
                      </a:r>
                      <a:endParaRPr sz="97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改为 Q_init + MLP(E_prior)</a:t>
                      </a:r>
                      <a:endParaRPr sz="975" b="1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需对齐 2C</a:t>
                      </a:r>
                      <a:endParaRPr sz="97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56877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先验构建</a:t>
                      </a:r>
                      <a:endParaRPr sz="975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不存在该环节</a:t>
                      </a:r>
                      <a:endParaRPr sz="97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离线统计 S、M，缓存 E_prior</a:t>
                      </a:r>
                      <a:endParaRPr sz="975" b="1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离线一次</a:t>
                      </a:r>
                      <a:endParaRPr sz="97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特征拼接</a:t>
                      </a:r>
                      <a:endParaRPr sz="975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Concat(Q⁽⁰⁾, T⁽⁰⁾)</a:t>
                      </a:r>
                      <a:endParaRPr sz="97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改为 Concat(Q̃⁽⁰⁾, T̃⁽⁰⁾)，维度不变</a:t>
                      </a:r>
                      <a:endParaRPr sz="975" b="1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sz="97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56877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后 3 层 Block</a:t>
                      </a:r>
                      <a:endParaRPr sz="975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Multi-level Query Modeling</a:t>
                      </a:r>
                      <a:endParaRPr sz="97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不改动，沿用原实现</a:t>
                      </a:r>
                      <a:endParaRPr sz="975">
                        <a:solidFill>
                          <a:srgbClr val="4A556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sz="97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Fusion / Head</a:t>
                      </a:r>
                      <a:endParaRPr sz="975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可学习融合与预测头</a:t>
                      </a:r>
                      <a:endParaRPr sz="97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不改动，沿用原实现</a:t>
                      </a:r>
                      <a:endParaRPr sz="975">
                        <a:solidFill>
                          <a:srgbClr val="4A556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sz="97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96" name="圆角矩形 195"/>
          <p:cNvSpPr/>
          <p:nvPr/>
        </p:nvSpPr>
        <p:spPr>
          <a:xfrm>
            <a:off x="4410075" y="5181600"/>
            <a:ext cx="7400925" cy="952500"/>
          </a:xfrm>
          <a:prstGeom prst="roundRect">
            <a:avLst>
              <a:gd name="adj" fmla="val 3000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197" name="任意多边形 196"/>
          <p:cNvSpPr/>
          <p:nvPr/>
        </p:nvSpPr>
        <p:spPr>
          <a:xfrm>
            <a:off x="4410075" y="5181600"/>
            <a:ext cx="7400925" cy="952500"/>
          </a:xfrm>
          <a:custGeom>
            <a:avLst/>
            <a:gdLst/>
            <a:ahLst/>
            <a:cxnLst/>
            <a:pathLst>
              <a:path w="777" h="100">
                <a:moveTo>
                  <a:pt x="3" y="100"/>
                </a:moveTo>
                <a:cubicBezTo>
                  <a:pt x="1" y="100"/>
                  <a:pt x="0" y="99"/>
                  <a:pt x="0" y="9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00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4581525" y="5314950"/>
            <a:ext cx="7058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改造边界</a:t>
            </a:r>
            <a:endParaRPr lang="zh-CN" sz="900" b="1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4581525" y="5514975"/>
            <a:ext cx="705802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全表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7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项里只有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项需要写代码，且全部集中在同一条数据通路上；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消融实验只要逐个关掉上支路、下支路，就能定位收益来自「看图」还是「找类」。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381000" y="6334125"/>
            <a:ext cx="1390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ASEE · 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解剖语义增强编码</a:t>
            </a:r>
            <a:endParaRPr lang="zh-CN" sz="9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11315700" y="6324600"/>
            <a:ext cx="180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11496675" y="6324600"/>
            <a:ext cx="3143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/ 14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3" name="" descr="&lt;Slide style={{ width: 1280, height: 720, padding: 0, background: '#F7F9FC' }}&gt;&#13;&#10;    &lt;Box style={{ position: 'relative', width: 1280, height: 720 }}&gt;&#13;&#10;&#13;&#10;        &lt;Box style={{ position: 'absolute', left: 0, top: 0, width: 1280, height: 8, background: '#1E4FA8' }} /&gt;&#13;&#10;&#13;&#10;        &lt;Box style={{ position: 'absolute', left: 150, top: 74, width: 980 }}&gt;&#13;&#10;            &lt;Text style={{ fontSize: 12, color: '#3D7BD9', letterSpacing: 3 }}&gt;CONCLUSION&lt;/Text&gt;&#13;&#10;            &lt;Box style={{ height: 14 }} /&gt;&#13;&#10;            &lt;Text style={{ fontSize: 48, fontWeight: 'bold', color: '#0E3F8C', lineHeight: 1.35, letterSpacing: 1 }}&gt;&#13;&#10;                瓶颈不在解码器，在 Query 的起点&#13;&#10;            &lt;/Text&gt;&#13;&#10;            &lt;Box style={{ height: 18 }} /&gt;&#13;&#10;            &lt;Box style={{ width: 72, height: 3, background: '#3D7BD9' }} /&gt;&#13;&#10;        &lt;/Box&gt;&#13;&#10;&#13;&#10;        {/* 三条结论 */}&#13;&#10;        &lt;Box style={{ position: 'absolute', left: 150, top: 216, width: 980, height: 258 }}&gt;&#13;&#10;            &lt;Box style={{ height: 86, flexDirection: 'row', alignItems: 'flex-start', borderTop: '1px solid #C6D7EE', paddingTop: 14 }}&gt;&#13;&#10;                &lt;Text style={{ width: 74, fontSize: 26, fontWeight: 'bold', color: '#9CB6DC', lineHeight: 1.2 }}&gt;01&lt;/Text&gt;&#13;&#10;                &lt;Box style={{ width: 150 }}&gt;&#13;&#10;                    &lt;Text style={{ fontSize: 17, fontWeight: 'bold', color: '#0E3F8C', lineHeight: 1.5 }}&gt;缺口定位&lt;/Text&gt;&#13;&#10;                &lt;/Box&gt;&#13;&#10;                &lt;Text style={{ flex: 1, fontSize: 14, color: '#1A2230', lineHeight: 1.85 }}&gt;&#13;&#10;                    问题出在 Query 的初始状态缺乏解剖锚点，而不是编码器的表征能力不够。&#13;&#10;                &lt;/Text&gt;&#13;&#10;            &lt;/Box&gt;&#13;&#10;&#13;&#10;            &lt;Box style={{ height: 86, flexDirection: 'row', alignItems: 'flex-start', borderTop: '1px solid #C6D7EE', paddingTop: 14 }}&gt;&#13;&#10;                &lt;Text style={{ width: 74, fontSize: 26, fontWeight: 'bold', color: '#9CB6DC', lineHeight: 1.2 }}&gt;02&lt;/Text&gt;&#13;&#10;                &lt;Box style={{ width: 150 }}&gt;&#13;&#10;                    &lt;Text style={{ fontSize: 17, fontWeight: 'bold', color: '#0E3F8C', lineHeight: 1.5 }}&gt;方法落点&lt;/Text&gt;&#13;&#10;                &lt;/Box&gt;&#13;&#10;                &lt;Text style={{ flex: 1, fontSize: 14, color: '#1A2230', lineHeight: 1.85 }}&gt;&#13;&#10;                    把文本语义 S 与共现概率 CP 合成 E_prior：上支路增强图像特征，下支路初始化查询。&#13;&#10;                &lt;/Text&gt;&#13;&#10;            &lt;/Box&gt;&#13;&#10;&#13;&#10;            &lt;Box style={{ height: 86, flexDirection: 'row', alignItems: 'flex-start', borderTop: '1px solid #C6D7EE', borderBottom: '1px solid #C6D7EE', paddingTop: 14 }}&gt;&#13;&#10;                &lt;Text style={{ width: 74, fontSize: 26, fontWeight: 'bold', color: '#9CB6DC', lineHeight: 1.2 }}&gt;03&lt;/Text&gt;&#13;&#10;                &lt;Box style={{ width: 150 }}&gt;&#13;&#10;                    &lt;Text style={{ fontSize: 17, fontWeight: 'bold', color: '#0E3F8C', lineHeight: 1.5 }}&gt;预期收益&lt;/Text&gt;&#13;&#10;                &lt;/Box&gt;&#13;&#10;                &lt;Text style={{ flex: 1, fontSize: 14, color: '#1A2230', lineHeight: 1.85 }}&gt;&#13;&#10;                    改善定向落在胆囊与胰腺两个 Dice 洼地，主干 Block 与预测头保持原样。&#13;&#10;                &lt;/Text&gt;&#13;&#10;            &lt;/Box&gt;&#13;&#10;        &lt;/Box&gt;&#13;&#10;&#13;&#10;        {/* 下一步 */}&#13;&#10;        &lt;Box style={{ position: 'absolute', left: 150, top: 508, width: 980, height: 118, flexDirection: 'row', gap: 24 }}&gt;&#13;&#10;            &lt;Box style={{ flex: 1.35, background: '#0E3F8C', borderRadius: 3, padding: '16px 20px' }}&gt;&#13;&#10;                &lt;Text style={{ fontSize: 12, color: '#9DB8E0', letterSpacing: 1.5 }}&gt;下一步&lt;/Text&gt;&#13;&#10;                &lt;Box style={{ height: 8 }} /&gt;&#13;&#10;                &lt;Text style={{ fontSize: 14, color: '#FFFFFF', lineHeight: 1.75 }}&gt;&#13;&#10;                    按支路做消融：只开上支路 / 只开下支路 / 全开，确认收益来源，&#13;&#10;                    并进一步观察 S 与 CP 各自的贡献。&#13;&#10;                &lt;/Text&gt;&#13;&#10;            &lt;/Box&gt;&#13;&#10;            &lt;Box style={{ flex: 1, background: '#FFFFFF', border: '1px solid #D6DCE5', borderRadius: 3, padding: '16px 20px' }}&gt;&#13;&#10;                &lt;Text style={{ fontSize: 12, color: '#1E4FA8', letterSpacing: 1.5, fontWeight: 'bold' }}&gt;一句话&lt;/Text&gt;&#13;&#10;                &lt;Box style={{ height: 8 }} /&gt;&#13;&#10;                &lt;Text style={{ fontSize: 14, color: '#1A2230', lineHeight: 1.75 }}&gt;&#13;&#10;                    不改主干，只给 Query 一句「从哪开始找」的先验。&#13;&#10;                &lt;/Text&gt;&#13;&#10;            &lt;/Box&gt;&#13;&#10;        &lt;/Box&gt;&#13;&#10;&#13;&#10;        {/* 页脚 */}&#13;&#10;        &lt;Box style={{ position: 'absolute', left: 40, top: 664, width: 1200, flexDirection: 'row', alignItems: 'center' }}&gt;&#13;&#10;            &lt;Text style={{ fontSize: 13, color: '#8B97A8' }}&gt;ASEE · 解剖语义增强编码&lt;/Text&gt;&#13;&#10;            &lt;Box style={{ flex: 1 }} /&gt;&#13;&#10;            &lt;Text style={{ fontSize: 15, fontWeight: 'bold', color: '#1E4FA8' }}&gt;14&lt;/Text&gt;&#13;&#10;            &lt;Text style={{ fontSize: 15, color: '#8B97A8' }}&gt; / 14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矩形 20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205" name="矩形 20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1428750" y="704850"/>
            <a:ext cx="9334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CONCLUSION</a:t>
            </a:r>
            <a:endParaRPr lang="en-US" sz="900" spc="225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1428750" y="981075"/>
            <a:ext cx="9334500" cy="742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3600" b="1" spc="75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瓶颈不在解码器，在</a:t>
            </a:r>
            <a:r>
              <a:rPr lang="en-US" sz="3600" b="1" spc="75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Query </a:t>
            </a:r>
            <a:r>
              <a:rPr lang="zh-CN" sz="3600" b="1" spc="75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的起点</a:t>
            </a:r>
            <a:endParaRPr lang="zh-CN" sz="3600" b="1" spc="75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" name="矩形 207"/>
          <p:cNvSpPr/>
          <p:nvPr/>
        </p:nvSpPr>
        <p:spPr>
          <a:xfrm>
            <a:off x="1428750" y="1895475"/>
            <a:ext cx="685800" cy="28575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209" name="任意多边形 208"/>
          <p:cNvSpPr/>
          <p:nvPr/>
        </p:nvSpPr>
        <p:spPr>
          <a:xfrm>
            <a:off x="1428750" y="2057400"/>
            <a:ext cx="9334500" cy="819150"/>
          </a:xfrm>
          <a:custGeom>
            <a:avLst/>
            <a:gdLst/>
            <a:ahLst/>
            <a:cxnLst/>
            <a:pathLst>
              <a:path w="980" h="86">
                <a:moveTo>
                  <a:pt x="0" y="0"/>
                </a:moveTo>
                <a:lnTo>
                  <a:pt x="980" y="0"/>
                </a:lnTo>
                <a:lnTo>
                  <a:pt x="980" y="1"/>
                </a:lnTo>
                <a:lnTo>
                  <a:pt x="0" y="1"/>
                </a:lnTo>
                <a:close/>
              </a:path>
            </a:pathLst>
          </a:custGeom>
          <a:solidFill>
            <a:srgbClr val="C6D7EE"/>
          </a:solidFill>
        </p:spPr>
        <p:txBody>
          <a:bodyPr/>
          <a:p/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1428750" y="2200275"/>
            <a:ext cx="704850" cy="361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950" b="1">
                <a:solidFill>
                  <a:srgbClr val="9CB6DC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950" b="1">
              <a:solidFill>
                <a:srgbClr val="9CB6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2133600" y="2200275"/>
            <a:ext cx="14287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缺口定位</a:t>
            </a:r>
            <a:endParaRPr lang="zh-CN" sz="12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3562350" y="2200275"/>
            <a:ext cx="72009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问题出在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Query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的初始状态缺乏解剖锚点，而不是编码器的表征能力不够。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任意多边形 212"/>
          <p:cNvSpPr/>
          <p:nvPr/>
        </p:nvSpPr>
        <p:spPr>
          <a:xfrm>
            <a:off x="1428750" y="2876550"/>
            <a:ext cx="9334500" cy="819150"/>
          </a:xfrm>
          <a:custGeom>
            <a:avLst/>
            <a:gdLst/>
            <a:ahLst/>
            <a:cxnLst/>
            <a:pathLst>
              <a:path w="980" h="86">
                <a:moveTo>
                  <a:pt x="0" y="0"/>
                </a:moveTo>
                <a:lnTo>
                  <a:pt x="980" y="0"/>
                </a:lnTo>
                <a:lnTo>
                  <a:pt x="980" y="1"/>
                </a:lnTo>
                <a:lnTo>
                  <a:pt x="0" y="1"/>
                </a:lnTo>
                <a:close/>
              </a:path>
            </a:pathLst>
          </a:custGeom>
          <a:solidFill>
            <a:srgbClr val="C6D7EE"/>
          </a:solidFill>
        </p:spPr>
        <p:txBody>
          <a:bodyPr/>
          <a:p/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1428750" y="3019425"/>
            <a:ext cx="704850" cy="361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950" b="1">
                <a:solidFill>
                  <a:srgbClr val="9CB6DC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950" b="1">
              <a:solidFill>
                <a:srgbClr val="9CB6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2133600" y="3019425"/>
            <a:ext cx="14287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方法落点</a:t>
            </a:r>
            <a:endParaRPr lang="zh-CN" sz="12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3562350" y="3019425"/>
            <a:ext cx="72009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把文本语义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S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与共现概率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CP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合成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E_prior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：上支路增强图像特征，下支路初始化查询。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7" name="任意多边形 216"/>
          <p:cNvSpPr/>
          <p:nvPr/>
        </p:nvSpPr>
        <p:spPr>
          <a:xfrm>
            <a:off x="1428750" y="3695700"/>
            <a:ext cx="9334500" cy="819150"/>
          </a:xfrm>
          <a:custGeom>
            <a:avLst/>
            <a:gdLst/>
            <a:ahLst/>
            <a:cxnLst/>
            <a:pathLst>
              <a:path w="980" h="86">
                <a:moveTo>
                  <a:pt x="0" y="0"/>
                </a:moveTo>
                <a:lnTo>
                  <a:pt x="980" y="0"/>
                </a:lnTo>
                <a:lnTo>
                  <a:pt x="980" y="1"/>
                </a:lnTo>
                <a:lnTo>
                  <a:pt x="0" y="1"/>
                </a:lnTo>
                <a:close/>
              </a:path>
            </a:pathLst>
          </a:custGeom>
          <a:solidFill>
            <a:srgbClr val="C6D7EE"/>
          </a:solidFill>
        </p:spPr>
        <p:txBody>
          <a:bodyPr/>
          <a:p/>
        </p:txBody>
      </p:sp>
      <p:sp>
        <p:nvSpPr>
          <p:cNvPr id="218" name="任意多边形 217"/>
          <p:cNvSpPr/>
          <p:nvPr/>
        </p:nvSpPr>
        <p:spPr>
          <a:xfrm>
            <a:off x="1428750" y="3695700"/>
            <a:ext cx="9334500" cy="819150"/>
          </a:xfrm>
          <a:custGeom>
            <a:avLst/>
            <a:gdLst/>
            <a:ahLst/>
            <a:cxnLst/>
            <a:pathLst>
              <a:path w="980" h="86">
                <a:moveTo>
                  <a:pt x="0" y="85"/>
                </a:moveTo>
                <a:lnTo>
                  <a:pt x="980" y="85"/>
                </a:lnTo>
                <a:lnTo>
                  <a:pt x="980" y="86"/>
                </a:lnTo>
                <a:lnTo>
                  <a:pt x="0" y="86"/>
                </a:lnTo>
                <a:close/>
              </a:path>
            </a:pathLst>
          </a:custGeom>
          <a:solidFill>
            <a:srgbClr val="C6D7EE"/>
          </a:solidFill>
        </p:spPr>
        <p:txBody>
          <a:bodyPr/>
          <a:p/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1428750" y="3838575"/>
            <a:ext cx="704850" cy="361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950" b="1">
                <a:solidFill>
                  <a:srgbClr val="9CB6DC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950" b="1">
              <a:solidFill>
                <a:srgbClr val="9CB6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2133600" y="3838575"/>
            <a:ext cx="14287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预期收益</a:t>
            </a:r>
            <a:endParaRPr lang="zh-CN" sz="12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3562350" y="3838575"/>
            <a:ext cx="72009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改善定向落在胆囊与胰腺两个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Dice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洼地，主干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Block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与预测头保持原样。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圆角矩形 221"/>
          <p:cNvSpPr/>
          <p:nvPr/>
        </p:nvSpPr>
        <p:spPr>
          <a:xfrm>
            <a:off x="1428750" y="4838700"/>
            <a:ext cx="5229225" cy="1123950"/>
          </a:xfrm>
          <a:prstGeom prst="roundRect">
            <a:avLst>
              <a:gd name="adj" fmla="val 2542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1619250" y="4991100"/>
            <a:ext cx="48482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13">
                <a:solidFill>
                  <a:srgbClr val="9DB8E0"/>
                </a:solidFill>
                <a:latin typeface="微软雅黑" panose="020B0503020204020204" charset="-122"/>
                <a:ea typeface="微软雅黑" panose="020B0503020204020204" charset="-122"/>
              </a:rPr>
              <a:t>下一步</a:t>
            </a:r>
            <a:endParaRPr lang="zh-CN" sz="900" spc="113">
              <a:solidFill>
                <a:srgbClr val="9DB8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1619250" y="5210175"/>
            <a:ext cx="484822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按支路做消融：只开上支路</a:t>
            </a:r>
            <a:r>
              <a:rPr 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只开下支路</a:t>
            </a:r>
            <a:r>
              <a:rPr 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全开，确认收益来源，</a:t>
            </a:r>
            <a:r>
              <a:rPr 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并进一步观察</a:t>
            </a:r>
            <a:r>
              <a:rPr 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S </a:t>
            </a:r>
            <a:r>
              <a:rPr 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CP </a:t>
            </a:r>
            <a:r>
              <a:rPr 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各自的贡献。</a:t>
            </a:r>
            <a:endParaRPr lang="zh-CN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圆角矩形 224"/>
          <p:cNvSpPr/>
          <p:nvPr/>
        </p:nvSpPr>
        <p:spPr>
          <a:xfrm>
            <a:off x="6886575" y="4838700"/>
            <a:ext cx="3876675" cy="1123950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7077075" y="4991100"/>
            <a:ext cx="3495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13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一句话</a:t>
            </a:r>
            <a:endParaRPr lang="zh-CN" sz="900" b="1" spc="113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7077075" y="5210175"/>
            <a:ext cx="34956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不改主干，只给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Query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一句「从哪开始找」的先验。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381000" y="6334125"/>
            <a:ext cx="1390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ASEE · 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解剖语义增强编码</a:t>
            </a:r>
            <a:endParaRPr lang="zh-CN" sz="9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11315700" y="6324600"/>
            <a:ext cx="180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11496675" y="6324600"/>
            <a:ext cx="3143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/ 14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6012</Words>
  <Application>WPS 演示</Application>
  <PresentationFormat/>
  <Paragraphs>744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Am</cp:lastModifiedBy>
  <cp:revision>1</cp:revision>
  <dcterms:created xsi:type="dcterms:W3CDTF">2026-10-19T08:35:31Z</dcterms:created>
  <dcterms:modified xsi:type="dcterms:W3CDTF">2026-10-19T08:35:31Z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{"AIGC":{"Label":"1","ContentProducer":"00119111010856365494821B355","ProduceID":"01a1533c8cd372d39f95e27890c31f4f","ReservedCode1":"","ContentPropagator":"00119111010856365494821B355","PropagateID":"01a1533c8cd372d39f95e27890c31f4f","ReservedCode2":""}}</vt:lpwstr>
  </property>
  <property fmtid="{D5CDD505-2E9C-101B-9397-08002B2CF9AE}" pid="3" name="KSOProductBuildVer">
    <vt:lpwstr>2052-12.1.0.28505</vt:lpwstr>
  </property>
  <property fmtid="{D5CDD505-2E9C-101B-9397-08002B2CF9AE}" pid="4" name="ICV">
    <vt:lpwstr>2ED15A95B26F428CB7DD3E994EAACF53_12</vt:lpwstr>
  </property>
</Properties>
</file>